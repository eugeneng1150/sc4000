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cc0deb0775447c2" /><Relationship Type="http://schemas.openxmlformats.org/officeDocument/2006/relationships/extended-properties" Target="/docProps/app.xml" Id="Re5462b071ff9431d" /><Relationship Type="http://schemas.openxmlformats.org/officeDocument/2006/relationships/officeDocument" Target="/ppt/presentation.xml" Id="R83b49da9a4ce406a" /></Relationships>
</file>

<file path=ppt/presentation.xml><?xml version="1.0" encoding="utf-8"?>
<p:presentation xmlns:p="http://schemas.openxmlformats.org/presentationml/2006/main">
  <p:sldMasterIdLst>
    <p:sldMasterId xmlns:r="http://schemas.openxmlformats.org/officeDocument/2006/relationships" id="2147483648" r:id="R72ab63466ee948f1"/>
  </p:sldMasterIdLst>
  <p:notesMasterIdLst>
    <p:notesMasterId xmlns:r="http://schemas.openxmlformats.org/officeDocument/2006/relationships" r:id="R5bab680ac19745a6"/>
  </p:notesMasterIdLst>
  <p:sldIdLst>
    <p:sldId xmlns:r="http://schemas.openxmlformats.org/officeDocument/2006/relationships" id="256" r:id="R45ca4a55a39146d7"/>
    <p:sldId xmlns:r="http://schemas.openxmlformats.org/officeDocument/2006/relationships" id="257" r:id="R88deb2c8130846f5"/>
    <p:sldId xmlns:r="http://schemas.openxmlformats.org/officeDocument/2006/relationships" id="258" r:id="Rdf3ad7ddd7334119"/>
    <p:sldId xmlns:r="http://schemas.openxmlformats.org/officeDocument/2006/relationships" id="259" r:id="R7acd0a4052e040a7"/>
    <p:sldId xmlns:r="http://schemas.openxmlformats.org/officeDocument/2006/relationships" id="260" r:id="Rfd47c3fc528342d5"/>
    <p:sldId xmlns:r="http://schemas.openxmlformats.org/officeDocument/2006/relationships" id="261" r:id="R15d274fbb01d4081"/>
    <p:sldId xmlns:r="http://schemas.openxmlformats.org/officeDocument/2006/relationships" id="262" r:id="Rb9c16968b05b4524"/>
    <p:sldId xmlns:r="http://schemas.openxmlformats.org/officeDocument/2006/relationships" id="263" r:id="R145ed3ff628448fa"/>
    <p:sldId xmlns:r="http://schemas.openxmlformats.org/officeDocument/2006/relationships" id="264" r:id="R6f18bb82009d4a68"/>
    <p:sldId xmlns:r="http://schemas.openxmlformats.org/officeDocument/2006/relationships" id="265" r:id="R000019ac05fd4f55"/>
    <p:sldId xmlns:r="http://schemas.openxmlformats.org/officeDocument/2006/relationships" id="266" r:id="R4ab389ce231c41d8"/>
    <p:sldId xmlns:r="http://schemas.openxmlformats.org/officeDocument/2006/relationships" id="267" r:id="R23e4ee3d2ae44427"/>
    <p:sldId xmlns:r="http://schemas.openxmlformats.org/officeDocument/2006/relationships" id="268" r:id="Raa06387fe3fa42c5"/>
    <p:sldId xmlns:r="http://schemas.openxmlformats.org/officeDocument/2006/relationships" id="269" r:id="Rd79768c091da47c4"/>
    <p:sldId xmlns:r="http://schemas.openxmlformats.org/officeDocument/2006/relationships" id="270" r:id="Rd3da19eae33946c7"/>
    <p:sldId xmlns:r="http://schemas.openxmlformats.org/officeDocument/2006/relationships" id="271" r:id="R03c8901eafd241c5"/>
    <p:sldId xmlns:r="http://schemas.openxmlformats.org/officeDocument/2006/relationships" id="272" r:id="R4c7e6d0176044406"/>
    <p:sldId xmlns:r="http://schemas.openxmlformats.org/officeDocument/2006/relationships" id="273" r:id="R9fb229a96e4a4c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bc2d9b8f7345c0" /><Relationship Type="http://schemas.openxmlformats.org/officeDocument/2006/relationships/slideMaster" Target="/ppt/slideMasters/slideMaster1.xml" Id="R72ab63466ee948f1" /><Relationship Type="http://schemas.openxmlformats.org/officeDocument/2006/relationships/notesMaster" Target="/ppt/notesMasters/notesMaster1.xml" Id="R5bab680ac19745a6" /><Relationship Type="http://schemas.openxmlformats.org/officeDocument/2006/relationships/presProps" Target="/ppt/presProps.xml" Id="R33516c0ffbf54553" /><Relationship Type="http://schemas.openxmlformats.org/officeDocument/2006/relationships/tableStyles" Target="/ppt/tableStyles.xml" Id="R2a7e9627230e4da4" /><Relationship Type="http://schemas.openxmlformats.org/officeDocument/2006/relationships/slide" Target="/ppt/slides/slide1.xml" Id="R45ca4a55a39146d7" /><Relationship Type="http://schemas.openxmlformats.org/officeDocument/2006/relationships/slide" Target="/ppt/slides/slide2.xml" Id="R88deb2c8130846f5" /><Relationship Type="http://schemas.openxmlformats.org/officeDocument/2006/relationships/slide" Target="/ppt/slides/slide3.xml" Id="Rdf3ad7ddd7334119" /><Relationship Type="http://schemas.openxmlformats.org/officeDocument/2006/relationships/slide" Target="/ppt/slides/slide4.xml" Id="R7acd0a4052e040a7" /><Relationship Type="http://schemas.openxmlformats.org/officeDocument/2006/relationships/slide" Target="/ppt/slides/slide5.xml" Id="Rfd47c3fc528342d5" /><Relationship Type="http://schemas.openxmlformats.org/officeDocument/2006/relationships/slide" Target="/ppt/slides/slide6.xml" Id="R15d274fbb01d4081" /><Relationship Type="http://schemas.openxmlformats.org/officeDocument/2006/relationships/slide" Target="/ppt/slides/slide7.xml" Id="Rb9c16968b05b4524" /><Relationship Type="http://schemas.openxmlformats.org/officeDocument/2006/relationships/slide" Target="/ppt/slides/slide8.xml" Id="R145ed3ff628448fa" /><Relationship Type="http://schemas.openxmlformats.org/officeDocument/2006/relationships/slide" Target="/ppt/slides/slide9.xml" Id="R6f18bb82009d4a68" /><Relationship Type="http://schemas.openxmlformats.org/officeDocument/2006/relationships/slide" Target="/ppt/slides/slide10.xml" Id="R000019ac05fd4f55" /><Relationship Type="http://schemas.openxmlformats.org/officeDocument/2006/relationships/slide" Target="/ppt/slides/slide11.xml" Id="R4ab389ce231c41d8" /><Relationship Type="http://schemas.openxmlformats.org/officeDocument/2006/relationships/slide" Target="/ppt/slides/slide12.xml" Id="R23e4ee3d2ae44427" /><Relationship Type="http://schemas.openxmlformats.org/officeDocument/2006/relationships/slide" Target="/ppt/slides/slide13.xml" Id="Raa06387fe3fa42c5" /><Relationship Type="http://schemas.openxmlformats.org/officeDocument/2006/relationships/slide" Target="/ppt/slides/slide14.xml" Id="Rd79768c091da47c4" /><Relationship Type="http://schemas.openxmlformats.org/officeDocument/2006/relationships/slide" Target="/ppt/slides/slide15.xml" Id="Rd3da19eae33946c7" /><Relationship Type="http://schemas.openxmlformats.org/officeDocument/2006/relationships/slide" Target="/ppt/slides/slide16.xml" Id="R03c8901eafd241c5" /><Relationship Type="http://schemas.openxmlformats.org/officeDocument/2006/relationships/slide" Target="/ppt/slides/slide17.xml" Id="R4c7e6d0176044406" /><Relationship Type="http://schemas.openxmlformats.org/officeDocument/2006/relationships/slide" Target="/ppt/slides/slide18.xml" Id="R9fb229a96e4a4c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dda444d8ea41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db727002df4125" /><Relationship Type="http://schemas.openxmlformats.org/officeDocument/2006/relationships/notesMaster" Target="/ppt/notesMasters/notesMaster1.xml" Id="R5b46eb8f4d324a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1c80946d7a44a3" /><Relationship Type="http://schemas.openxmlformats.org/officeDocument/2006/relationships/notesMaster" Target="/ppt/notesMasters/notesMaster1.xml" Id="R09dc243c34ca4a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de7cddaabb44f1" /><Relationship Type="http://schemas.openxmlformats.org/officeDocument/2006/relationships/notesMaster" Target="/ppt/notesMasters/notesMaster1.xml" Id="R3b06d298245149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0f7a9c6a5d4f5c" /><Relationship Type="http://schemas.openxmlformats.org/officeDocument/2006/relationships/notesMaster" Target="/ppt/notesMasters/notesMaster1.xml" Id="Rce8c4222ed1549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94a078ed1b46ca" /><Relationship Type="http://schemas.openxmlformats.org/officeDocument/2006/relationships/notesMaster" Target="/ppt/notesMasters/notesMaster1.xml" Id="R5af25fba222b4c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a97beecffa4b6c" /><Relationship Type="http://schemas.openxmlformats.org/officeDocument/2006/relationships/notesMaster" Target="/ppt/notesMasters/notesMaster1.xml" Id="Rcbe7e37ba81a4b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0afeab80dd24a24" /><Relationship Type="http://schemas.openxmlformats.org/officeDocument/2006/relationships/notesMaster" Target="/ppt/notesMasters/notesMaster1.xml" Id="R2871823d41094e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9fa786d7264bd4" /><Relationship Type="http://schemas.openxmlformats.org/officeDocument/2006/relationships/notesMaster" Target="/ppt/notesMasters/notesMaster1.xml" Id="R3aa4b58367d54e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4cda9123d543d8" /><Relationship Type="http://schemas.openxmlformats.org/officeDocument/2006/relationships/notesMaster" Target="/ppt/notesMasters/notesMaster1.xml" Id="R6c1cf4b542ab42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d67c716d104ecf" /><Relationship Type="http://schemas.openxmlformats.org/officeDocument/2006/relationships/notesMaster" Target="/ppt/notesMasters/notesMaster1.xml" Id="R31830b42c50645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0e7c24eace44e5" /><Relationship Type="http://schemas.openxmlformats.org/officeDocument/2006/relationships/notesMaster" Target="/ppt/notesMasters/notesMaster1.xml" Id="R782af79e813e48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adff68b53c49e9" /><Relationship Type="http://schemas.openxmlformats.org/officeDocument/2006/relationships/notesMaster" Target="/ppt/notesMasters/notesMaster1.xml" Id="R92c5abcb015149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50d4c3cbaad475f" /><Relationship Type="http://schemas.openxmlformats.org/officeDocument/2006/relationships/notesMaster" Target="/ppt/notesMasters/notesMaster1.xml" Id="R0ab286aa8eb342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f961b71c41041a2" /><Relationship Type="http://schemas.openxmlformats.org/officeDocument/2006/relationships/notesMaster" Target="/ppt/notesMasters/notesMaster1.xml" Id="R6455fcc38b7d4f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0a8971138864ea7" /><Relationship Type="http://schemas.openxmlformats.org/officeDocument/2006/relationships/notesMaster" Target="/ppt/notesMasters/notesMaster1.xml" Id="Re83564d97ee94d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42c64aaac1a49a4" /><Relationship Type="http://schemas.openxmlformats.org/officeDocument/2006/relationships/notesMaster" Target="/ppt/notesMasters/notesMaster1.xml" Id="Rb430a0c44b8648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debc49300ac49f0" /><Relationship Type="http://schemas.openxmlformats.org/officeDocument/2006/relationships/notesMaster" Target="/ppt/notesMasters/notesMaster1.xml" Id="R7f6694cc097543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3f5ae76cc244aa" /><Relationship Type="http://schemas.openxmlformats.org/officeDocument/2006/relationships/notesMaster" Target="/ppt/notesMasters/notesMaster1.xml" Id="Rbd757d99638a48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20 seconds</a:t>
            </a:r>
          </a:p>
          <a:p xmlns:a="http://schemas.openxmlformats.org/drawingml/2006/main">
            <a:r>
              <a:t/>
            </a:r>
          </a:p>
          <a:p xmlns:a="http://schemas.openxmlformats.org/drawingml/2006/main">
            <a:r>
              <a:t>Our project studies how to rank compiler configurations for AI programs. Rather than measure every candidate on the target hardware, we learn from previously measured configurations and predict which settings should run faster. We investigate how to improve those rankings within the memory and CPU limits of our available environment.</a:t>
            </a:r>
          </a:p>
          <a:p xmlns:a="http://schemas.openxmlformats.org/drawingml/2006/main">
            <a:r>
              <a:t/>
            </a:r>
          </a:p>
          <a:p xmlns:a="http://schemas.openxmlformats.org/drawingml/2006/main">
            <a:r>
              <a:t>Sources</a:t>
            </a:r>
          </a:p>
          <a:p xmlns:a="http://schemas.openxmlformats.org/drawingml/2006/main">
            <a:r>
              <a:t>local/course/sc4000_course_proj.pdf, pp. 9–12 and 27–31</a:t>
            </a:r>
          </a:p>
          <a:p xmlns:a="http://schemas.openxmlformats.org/drawingml/2006/main">
            <a:r>
              <a:t>https://www.kaggle.com/competitions/predict-ai-model-runtime</a:t>
            </a:r>
          </a:p>
          <a:p xmlns:a="http://schemas.openxmlformats.org/drawingml/2006/main">
            <a:r>
              <a:t>https://arxiv.org/abs/2308.13490</a:t>
            </a:r>
          </a:p>
          <a:p xmlns:a="http://schemas.openxmlformats.org/drawingml/2006/main">
            <a:r>
              <a:t>Background: AI-generated conceptual illustration. It does not depict actual hardware or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25 seconds</a:t>
            </a:r>
          </a:p>
          <a:p xmlns:a="http://schemas.openxmlformats.org/drawingml/2006/main">
            <a:r>
              <a:t/>
            </a:r>
          </a:p>
          <a:p xmlns:a="http://schemas.openxmlformats.org/drawingml/2006/main">
            <a:r>
              <a:t>Consider one program with three possible compiler configurations. B takes eight milliseconds, C takes ten and A takes twelve, so the desired ranking is B, C, A. The input includes graph structure, operation features and configuration choices. The output is an ordering of candidate configurations. These numbers are an illustration, not an experiment from our results.</a:t>
            </a:r>
          </a:p>
          <a:p xmlns:a="http://schemas.openxmlformats.org/drawingml/2006/main">
            <a:r>
              <a:t/>
            </a:r>
          </a:p>
          <a:p xmlns:a="http://schemas.openxmlformats.org/drawingml/2006/main">
            <a:r>
              <a:t>Sources</a:t>
            </a:r>
          </a:p>
          <a:p xmlns:a="http://schemas.openxmlformats.org/drawingml/2006/main">
            <a:r>
              <a:t>Illustrative example only</a:t>
            </a:r>
          </a:p>
          <a:p xmlns:a="http://schemas.openxmlformats.org/drawingml/2006/main">
            <a:r>
              <a:t>notebooks/SC4000_Final.ipynb, sections 1–2</a:t>
            </a:r>
          </a:p>
          <a:p xmlns:a="http://schemas.openxmlformats.org/drawingml/2006/main">
            <a:r>
              <a:t>https://arxiv.org/abs/2308.13490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We targeted a standard Colab CPU session with roughly twelve to thirteen gigabytes of system RAM. The difficult memory cost came from graph and configuration tensors, not just model weights. We therefore bounded graph sampling and feature extraction, isolated workers and removed scratch data after use. Checkpoints protected completed work across sessions. These choices made the experiments feasible, but also motivated testing whether retaining more graph structure or training data would help.</a:t>
            </a:r>
          </a:p>
          <a:p xmlns:a="http://schemas.openxmlformats.org/drawingml/2006/main">
            <a:r>
              <a:t/>
            </a:r>
          </a:p>
          <a:p xmlns:a="http://schemas.openxmlformats.org/drawingml/2006/main">
            <a:r>
              <a:t>Sources</a:t>
            </a:r>
          </a:p>
          <a:p xmlns:a="http://schemas.openxmlformats.org/drawingml/2006/main">
            <a:r>
              <a:t>src/final_study/README.md</a:t>
            </a:r>
          </a:p>
          <a:p xmlns:a="http://schemas.openxmlformats.org/drawingml/2006/main">
            <a:r>
              <a:t>docs/evidence/gnn_ablation_v2_findings.md</a:t>
            </a:r>
          </a:p>
          <a:p xmlns:a="http://schemas.openxmlformats.org/drawingml/2006/main">
            <a:r>
              <a:t>docs/evidence/v4_completed_findings.md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35 seconds</a:t>
            </a:r>
          </a:p>
          <a:p xmlns:a="http://schemas.openxmlformats.org/drawingml/2006/main">
            <a:r>
              <a:t/>
            </a:r>
          </a:p>
          <a:p xmlns:a="http://schemas.openxmlformats.org/drawingml/2006/main">
            <a:r>
              <a:t>For layout configurations, we use Kendall tau-b. It asks whether the predicted and actual rankings agree on each pair. With three candidates and no ties, the correct order scores one. Swapping B and C leaves two correct pairs and one reversed pair, giving one third. Reversing everything scores minus one. Tau-b also handles ties. This is an established statistical metric used in TPUGraphs research, not an algorithm we invented.</a:t>
            </a:r>
          </a:p>
          <a:p xmlns:a="http://schemas.openxmlformats.org/drawingml/2006/main">
            <a:r>
              <a:t/>
            </a:r>
          </a:p>
          <a:p xmlns:a="http://schemas.openxmlformats.org/drawingml/2006/main">
            <a:r>
              <a:t>Sources</a:t>
            </a:r>
          </a:p>
          <a:p xmlns:a="http://schemas.openxmlformats.org/drawingml/2006/main">
            <a:r>
              <a:t>src/ablation_v3/engine.py: scores</a:t>
            </a:r>
          </a:p>
          <a:p xmlns:a="http://schemas.openxmlformats.org/drawingml/2006/main">
            <a:r>
              <a:t>https://docs.scipy.org/doc/scipy/reference/generated/scipy.stats.kendalltau.html</a:t>
            </a:r>
          </a:p>
          <a:p xmlns:a="http://schemas.openxmlformats.org/drawingml/2006/main">
            <a:r>
              <a:t>https://arxiv.org/abs/2308.13490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25 seconds</a:t>
            </a:r>
          </a:p>
          <a:p xmlns:a="http://schemas.openxmlformats.org/drawingml/2006/main">
            <a:r>
              <a:t/>
            </a:r>
          </a:p>
          <a:p xmlns:a="http://schemas.openxmlformats.org/drawingml/2006/main">
            <a:r>
              <a:t>Layout evaluation focuses on the overall ordering. Tile evaluation instead asks whether the top five recommendations include a configuration close to the fastest available one. Locally we report one minus top-five regret, so higher remains better. Local evaluation uses sampled candidates and differs from the aggregate competition score. We therefore never average local tau and Tile scores to estimate a Kaggle score.</a:t>
            </a:r>
          </a:p>
          <a:p xmlns:a="http://schemas.openxmlformats.org/drawingml/2006/main">
            <a:r>
              <a:t/>
            </a:r>
          </a:p>
          <a:p xmlns:a="http://schemas.openxmlformats.org/drawingml/2006/main">
            <a:r>
              <a:t>Sources</a:t>
            </a:r>
          </a:p>
          <a:p xmlns:a="http://schemas.openxmlformats.org/drawingml/2006/main">
            <a:r>
              <a:t>src/ablation_v3/engine.py: scores</a:t>
            </a:r>
          </a:p>
          <a:p xmlns:a="http://schemas.openxmlformats.org/drawingml/2006/main">
            <a:r>
              <a:t>notebooks/SC4000_Final.ipynb, section 1</a:t>
            </a:r>
          </a:p>
          <a:p xmlns:a="http://schemas.openxmlformats.org/drawingml/2006/main">
            <a:r>
              <a:t>https://www.kaggle.com/competitions/predict-ai-model-runtime/overview/evaluation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35 seconds</a:t>
            </a:r>
          </a:p>
          <a:p xmlns:a="http://schemas.openxmlformats.org/drawingml/2006/main">
            <a:r>
              <a:t/>
            </a:r>
          </a:p>
          <a:p xmlns:a="http://schemas.openxmlformats.org/drawingml/2006/main">
            <a:r>
              <a:t>We use different comparators for different questions. The basic histogram gradient-boosting model is the main whole-system baseline. For model-family comparisons, matched-data boosting uses the same training examples as the GNN, although representations and objectives still differ. Component ablations use a reference GraphSAGE recipe. Keeping these references distinct prevents us from attributing a whole-system improvement to one particular component.</a:t>
            </a:r>
          </a:p>
          <a:p xmlns:a="http://schemas.openxmlformats.org/drawingml/2006/main">
            <a:r>
              <a:t/>
            </a:r>
          </a:p>
          <a:p xmlns:a="http://schemas.openxmlformats.org/drawingml/2006/main">
            <a:r>
              <a:t>Sources</a:t>
            </a:r>
          </a:p>
          <a:p xmlns:a="http://schemas.openxmlformats.org/drawingml/2006/main">
            <a:r>
              <a:t>notebooks/SC4000_Final.ipynb, sections 2–4</a:t>
            </a:r>
          </a:p>
          <a:p xmlns:a="http://schemas.openxmlformats.org/drawingml/2006/main">
            <a:r>
              <a:t>reports/final/tables/model_family_comparison.csv</a:t>
            </a:r>
          </a:p>
          <a:p xmlns:a="http://schemas.openxmlformats.org/drawingml/2006/main">
            <a:r>
              <a:t>reports/final/tables/component_changes.csv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Our exploration covered an MLP, boosted trees and GraphSAGE. Tabular models used compact configuration-aware statistics, with richer variants adding operation and topology summaries. GraphSAGE used sampled edges, opcode embeddings and configuration features to learn neighbour interactions. Configuration information matters because a graph-only summary cannot distinguish different candidates for the same graph. We retain early MLP exploration as context, but its different evaluation protocol prevents a direct numerical comparison with later studies.</a:t>
            </a:r>
          </a:p>
          <a:p xmlns:a="http://schemas.openxmlformats.org/drawingml/2006/main">
            <a:r>
              <a:t/>
            </a:r>
          </a:p>
          <a:p xmlns:a="http://schemas.openxmlformats.org/drawingml/2006/main">
            <a:r>
              <a:t>Sources</a:t>
            </a:r>
          </a:p>
          <a:p xmlns:a="http://schemas.openxmlformats.org/drawingml/2006/main">
            <a:r>
              <a:t>src/ablation_v3/engine.py</a:t>
            </a:r>
          </a:p>
          <a:p xmlns:a="http://schemas.openxmlformats.org/drawingml/2006/main">
            <a:r>
              <a:t>src/ablation_v3/gnn.py</a:t>
            </a:r>
          </a:p>
          <a:p xmlns:a="http://schemas.openxmlformats.org/drawingml/2006/main">
            <a:r>
              <a:t>archive/legacy/figures/experiment_results_summary_from_log.csv</a:t>
            </a:r>
          </a:p>
          <a:p xmlns:a="http://schemas.openxmlformats.org/drawingml/2006/main">
            <a:r>
              <a:t>https://arxiv.org/abs/1706.02216</a:t>
            </a:r>
          </a:p>
          <a:p xmlns:a="http://schemas.openxmlformats.org/drawingml/2006/main">
            <a:r>
              <a:t>docs/research/TOP_SOLUTION_RESEARCH.md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We split at graph level so a model does not train on the development graphs used to judge that fold. We screened alternatives on two folds and confirmed promoted recipes with three seeds. However, seeds are not independent graph replications, and deterministic tree models can produce identical predictions. The audit data had already been inspected during earlier work. With only seven graphs in each XLA audit collection, we report uncertainty and avoid claiming definitive generalization.</a:t>
            </a:r>
          </a:p>
          <a:p xmlns:a="http://schemas.openxmlformats.org/drawingml/2006/main">
            <a:r>
              <a:t/>
            </a:r>
          </a:p>
          <a:p xmlns:a="http://schemas.openxmlformats.org/drawingml/2006/main">
            <a:r>
              <a:t>Sources</a:t>
            </a:r>
          </a:p>
          <a:p xmlns:a="http://schemas.openxmlformats.org/drawingml/2006/main">
            <a:r>
              <a:t>reports/final/tables/split_inventory.csv</a:t>
            </a:r>
          </a:p>
          <a:p xmlns:a="http://schemas.openxmlformats.org/drawingml/2006/main">
            <a:r>
              <a:t>docs/evidence/v5_completed_findings.md</a:t>
            </a:r>
          </a:p>
          <a:p xmlns:a="http://schemas.openxmlformats.org/drawingml/2006/main">
            <a:r>
              <a:t>src/ablation_v5/v5_core.py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We tested masks and context additions against the reference GNN. We also compared the full GNN with a no-message control. The table shows the change in development tau and an exploratory graph-bootstrap interval. All displayed intervals include zero. This does not establish clear standalone gains, even though some selected models contain these components. The addition and removal comparisons have different named controls, so their gains should not be added together. Default uses 2,048 nodes and random uses 512.</a:t>
            </a:r>
          </a:p>
          <a:p xmlns:a="http://schemas.openxmlformats.org/drawingml/2006/main">
            <a:r>
              <a:t/>
            </a:r>
          </a:p>
          <a:p xmlns:a="http://schemas.openxmlformats.org/drawingml/2006/main">
            <a:r>
              <a:t>Sources</a:t>
            </a:r>
          </a:p>
          <a:p xmlns:a="http://schemas.openxmlformats.org/drawingml/2006/main">
            <a:r>
              <a:t>reports/final/tables/component_changes.csv</a:t>
            </a:r>
          </a:p>
          <a:p xmlns:a="http://schemas.openxmlformats.org/drawingml/2006/main">
            <a:r>
              <a:t>reports/final/FIGURE_CAPTIONS.md</a:t>
            </a:r>
          </a:p>
          <a:p xmlns:a="http://schemas.openxmlformats.org/drawingml/2006/main">
            <a:r>
              <a:t>Addition controls: G_reference_n2048 / G_reference_n512. Message controls: G_no_messages_n2048 / G_no_messages_n512. Three-seed confirmed development evidence, exploratory bootstrap without multiplicity 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Graph sampling could discard useful structure, so we tested budgets from 512 to 4,096 nodes. This chart shows XLA random, averaged across the two development folds with seed 42. Neither reference nor enhanced GraphSAGE improved monotonically with more nodes. XLA default also showed non-monotonic results. We therefore kept development-selected budgets instead of assuming that the largest graph was best. These experiments do not prove why performance changed, and they are not matched for total compute.</a:t>
            </a:r>
          </a:p>
          <a:p xmlns:a="http://schemas.openxmlformats.org/drawingml/2006/main">
            <a:r>
              <a:t/>
            </a:r>
          </a:p>
          <a:p xmlns:a="http://schemas.openxmlformats.org/drawingml/2006/main">
            <a:r>
              <a:t>Sources</a:t>
            </a:r>
          </a:p>
          <a:p xmlns:a="http://schemas.openxmlformats.org/drawingml/2006/main">
            <a:r>
              <a:t>reports/final/tables/graph_budget_screening.csv</a:t>
            </a:r>
          </a:p>
          <a:p xmlns:a="http://schemas.openxmlformats.org/drawingml/2006/main">
            <a:r>
              <a:t>reports/final/FIGURE_CAPTIONS.md</a:t>
            </a:r>
          </a:p>
          <a:p xmlns:a="http://schemas.openxmlformats.org/drawingml/2006/main">
            <a:r>
              <a:t>X-axis: sampled node budget. Screening with seed 42, mean of two development folds.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We next varied the number of training graphs and the number of configurations per graph. In this XLA-random screening result, increasing graphs helped the 128-configuration setting, but the 256-configuration setting declined when using all eligible graphs. Confirmation and blending followed screening, so this plot alone is not the final selection rule. Later tabular expansion helped NLP random, while other incumbent models remained selected. Larger Tile settings excluded by resources were never valid accuracy comparisons.</a:t>
            </a:r>
          </a:p>
          <a:p xmlns:a="http://schemas.openxmlformats.org/drawingml/2006/main">
            <a:r>
              <a:t/>
            </a:r>
          </a:p>
          <a:p xmlns:a="http://schemas.openxmlformats.org/drawingml/2006/main">
            <a:r>
              <a:t>Sources</a:t>
            </a:r>
          </a:p>
          <a:p xmlns:a="http://schemas.openxmlformats.org/drawingml/2006/main">
            <a:r>
              <a:t>reports/final/tables/training_data_screening.csv</a:t>
            </a:r>
          </a:p>
          <a:p xmlns:a="http://schemas.openxmlformats.org/drawingml/2006/main">
            <a:r>
              <a:t>docs/evidence/v4_completed_findings.md</a:t>
            </a:r>
          </a:p>
          <a:p xmlns:a="http://schemas.openxmlformats.org/drawingml/2006/main">
            <a:r>
              <a:t>Graph budget fixed at the selected follow-up profile. Screening seed 42, scores averaged across development folds. “All eligible” excludes development and audit graphs.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A runtime of ten milliseconds can be fast for one graph and slow for another. A percentile target expresses where a configuration sits within its own graph. We tested that change using the same HGB learner, features and training examples. On NLP default, the percentile target improved both screening folds. Three-seed confirmation then informed the final blends. This is not universal superiority: on NLP random, the percentile model alone was slightly worse on mean development score, but its blend helped.</a:t>
            </a:r>
          </a:p>
          <a:p xmlns:a="http://schemas.openxmlformats.org/drawingml/2006/main">
            <a:r>
              <a:t/>
            </a:r>
          </a:p>
          <a:p xmlns:a="http://schemas.openxmlformats.org/drawingml/2006/main">
            <a:r>
              <a:t>Sources</a:t>
            </a:r>
          </a:p>
          <a:p xmlns:a="http://schemas.openxmlformats.org/drawingml/2006/main">
            <a:r>
              <a:t>reports/final/tables/target_screening.csv</a:t>
            </a:r>
          </a:p>
          <a:p xmlns:a="http://schemas.openxmlformats.org/drawingml/2006/main">
            <a:r>
              <a:t>reports/final/tables/blend_changes.csv</a:t>
            </a:r>
          </a:p>
          <a:p xmlns:a="http://schemas.openxmlformats.org/drawingml/2006/main">
            <a:r>
              <a:t>src/ablation_v5/v5_worker.py</a:t>
            </a:r>
          </a:p>
          <a:p xmlns:a="http://schemas.openxmlformats.org/drawingml/2006/main">
            <a:r>
              <a:t>Chart: NLP default, seed 42 screening. The target comparison keeps the HGB capacity and example IDs matched.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Regression predicts a value for each candidate. Pairwise ranking learns which member of a pair should rank ahead, grouping comparisons within each graph. Here we isolate the objective within XGBoost while matching capacity and training examples. Pairwise ranking improved several screening comparisons, but did not consistently beat the available alternatives under our selection process. Neither XGBoost variant entered the final system. That conclusion applies to these tested settings, not to all ranking algorithms.</a:t>
            </a:r>
          </a:p>
          <a:p xmlns:a="http://schemas.openxmlformats.org/drawingml/2006/main">
            <a:r>
              <a:t/>
            </a:r>
          </a:p>
          <a:p xmlns:a="http://schemas.openxmlformats.org/drawingml/2006/main">
            <a:r>
              <a:t>Sources</a:t>
            </a:r>
          </a:p>
          <a:p xmlns:a="http://schemas.openxmlformats.org/drawingml/2006/main">
            <a:r>
              <a:t>reports/final/tables/target_screening.csv</a:t>
            </a:r>
          </a:p>
          <a:p xmlns:a="http://schemas.openxmlformats.org/drawingml/2006/main">
            <a:r>
              <a:t>docs/evidence/v5_completed_findings.md</a:t>
            </a:r>
          </a:p>
          <a:p xmlns:a="http://schemas.openxmlformats.org/drawingml/2006/main">
            <a:r>
              <a:t>src/ablation_v5/v5_worker.py</a:t>
            </a:r>
          </a:p>
          <a:p xmlns:a="http://schemas.openxmlformats.org/drawingml/2006/main">
            <a:r>
              <a:t>Chart: seed 42, mean of two development folds. HGB versus XGBoost would not isolate objective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40 seconds</a:t>
            </a:r>
          </a:p>
          <a:p xmlns:a="http://schemas.openxmlformats.org/drawingml/2006/main">
            <a:r>
              <a:t/>
            </a:r>
          </a:p>
          <a:p xmlns:a="http://schemas.openxmlformats.org/drawingml/2006/main">
            <a:r>
              <a:t>The accepted blends improved the reused audit on three collections. NLP default rose from 0.4113 to 0.4536, about a 10.29 percent relative increase in tau. NLP random improved by about 1.75 percent. XLA default gained 0.0592 tau, but a relative percentage would be misleading because its reference was near zero. These are blend comparisons. The NLP-random result shows that complementary errors can matter even when a candidate model is not stronger by itself.</a:t>
            </a:r>
          </a:p>
          <a:p xmlns:a="http://schemas.openxmlformats.org/drawingml/2006/main">
            <a:r>
              <a:t/>
            </a:r>
          </a:p>
          <a:p xmlns:a="http://schemas.openxmlformats.org/drawingml/2006/main">
            <a:r>
              <a:t>Sources</a:t>
            </a:r>
          </a:p>
          <a:p xmlns:a="http://schemas.openxmlformats.org/drawingml/2006/main">
            <a:r>
              <a:t>reports/final/tables/blend_changes.csv</a:t>
            </a:r>
          </a:p>
          <a:p xmlns:a="http://schemas.openxmlformats.org/drawingml/2006/main">
            <a:r>
              <a:t>docs/evidence/v5_completed_findings.md</a:t>
            </a:r>
          </a:p>
          <a:p xmlns:a="http://schemas.openxmlformats.org/drawingml/2006/main">
            <a:r>
              <a:t>Exploratory audit sample sizes: NLP default 20, NLP random 20, XLA default 7. No multiplicity correction. The final audit was previously inspected.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25 seconds</a:t>
            </a:r>
          </a:p>
          <a:p xmlns:a="http://schemas.openxmlformats.org/drawingml/2006/main">
            <a:r>
              <a:t/>
            </a:r>
          </a:p>
          <a:p xmlns:a="http://schemas.openxmlformats.org/drawingml/2006/main">
            <a:r>
              <a:t>Unsuccessful directions have different meanings. Mask and context effects were inconclusive. Larger graphs and longer training did not consistently justify replacement. Our tested XGBoost alternatives were not selected. Resource-excluded Tile settings were never successfully evaluated, so we cannot call them worse. These distinctions explain why we kept some ideas and rejected or deferred others.</a:t>
            </a:r>
          </a:p>
          <a:p xmlns:a="http://schemas.openxmlformats.org/drawingml/2006/main">
            <a:r>
              <a:t/>
            </a:r>
          </a:p>
          <a:p xmlns:a="http://schemas.openxmlformats.org/drawingml/2006/main">
            <a:r>
              <a:t>Sources</a:t>
            </a:r>
          </a:p>
          <a:p xmlns:a="http://schemas.openxmlformats.org/drawingml/2006/main">
            <a:r>
              <a:t>reports/final/tables/component_changes.csv</a:t>
            </a:r>
          </a:p>
          <a:p xmlns:a="http://schemas.openxmlformats.org/drawingml/2006/main">
            <a:r>
              <a:t>docs/evidence/v4_completed_findings.md</a:t>
            </a:r>
          </a:p>
          <a:p xmlns:a="http://schemas.openxmlformats.org/drawingml/2006/main">
            <a:r>
              <a:t>docs/evidence/v5_completed_findings.md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35 seconds</a:t>
            </a:r>
          </a:p>
          <a:p xmlns:a="http://schemas.openxmlformats.org/drawingml/2006/main">
            <a:r>
              <a:t/>
            </a:r>
          </a:p>
          <a:p xmlns:a="http://schemas.openxmlformats.org/drawingml/2006/main">
            <a:r>
              <a:t>The final system is collection-specific. NLP uses boosted-tree models with different targets. Both XLA layout collections retain GraphSAGE alongside boosted trees. Tile uses the existing deeper HGB model. We turn predictions into within-graph ranks before applying these weights, which avoids directly mixing incompatible numerical scales. Development folds determined the blend choices. Test inference combines both folds and three seeds. The final target study reused the existing GNN models rather than retraining them.</a:t>
            </a:r>
          </a:p>
          <a:p xmlns:a="http://schemas.openxmlformats.org/drawingml/2006/main">
            <a:r>
              <a:t/>
            </a:r>
          </a:p>
          <a:p xmlns:a="http://schemas.openxmlformats.org/drawingml/2006/main">
            <a:r>
              <a:t>Sources</a:t>
            </a:r>
          </a:p>
          <a:p xmlns:a="http://schemas.openxmlformats.org/drawingml/2006/main">
            <a:r>
              <a:t>reports/final/tables/selected_recipe.csv</a:t>
            </a:r>
          </a:p>
          <a:p xmlns:a="http://schemas.openxmlformats.org/drawingml/2006/main">
            <a:r>
              <a:t>docs/evidence/v5_completed_findings.md</a:t>
            </a:r>
          </a:p>
          <a:p xmlns:a="http://schemas.openxmlformats.org/drawingml/2006/main">
            <a:r>
              <a:t>src/ablation_v4/v4_worker.py</a:t>
            </a:r>
          </a:p>
          <a:p xmlns:a="http://schemas.openxmlformats.org/drawingml/2006/main">
            <a:r>
              <a:t>Table weights come from the saved selected recipe. The individual log-target HGB recipes differ across collections.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30 seconds</a:t>
            </a:r>
          </a:p>
          <a:p xmlns:a="http://schemas.openxmlformats.org/drawingml/2006/main">
            <a:r>
              <a:t/>
            </a:r>
          </a:p>
          <a:p xmlns:a="http://schemas.openxmlformats.org/drawingml/2006/main">
            <a:r>
              <a:t>The selected system improves over the basic HGB baseline across the recorded audit collections. Tile also improves on its separate one-minus-regret metric. The user reports a public Kaggle score of 0.567, compared with 0.558 for the previous system, an absolute gain of 0.009. This score has not been independently verified here. We do not claim a final leaderboard rank or top-ten-percent placement without the ranking evidence. Local audit scores and the public score remain separate.</a:t>
            </a:r>
          </a:p>
          <a:p xmlns:a="http://schemas.openxmlformats.org/drawingml/2006/main">
            <a:r>
              <a:t/>
            </a:r>
          </a:p>
          <a:p xmlns:a="http://schemas.openxmlformats.org/drawingml/2006/main">
            <a:r>
              <a:t>Sources</a:t>
            </a:r>
          </a:p>
          <a:p xmlns:a="http://schemas.openxmlformats.org/drawingml/2006/main">
            <a:r>
              <a:t>reports/final/tables/historical_final_audit.csv</a:t>
            </a:r>
          </a:p>
          <a:p xmlns:a="http://schemas.openxmlformats.org/drawingml/2006/main">
            <a:r>
              <a:t>reports/final/tables/reported_public_scores.csv</a:t>
            </a:r>
          </a:p>
          <a:p xmlns:a="http://schemas.openxmlformats.org/drawingml/2006/main">
            <a:r>
              <a:t>docs/evidence/v5_completed_findings.md</a:t>
            </a:r>
          </a:p>
          <a:p xmlns:a="http://schemas.openxmlformats.org/drawingml/2006/main">
            <a:r>
              <a:t>Public score source: user report, rounded to three decimals. Final leaderboard position, competitor count and screenshot evidence remain unverified. This deck deliberately makes no ranking-band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speaking time: 25 seconds</a:t>
            </a:r>
          </a:p>
          <a:p xmlns:a="http://schemas.openxmlformats.org/drawingml/2006/main">
            <a:r>
              <a:t/>
            </a:r>
          </a:p>
          <a:p xmlns:a="http://schemas.openxmlformats.org/drawingml/2006/main">
            <a:r>
              <a:t>Our contribution is the independently implemented workflow and controlled evidence under resource constraints. Target design and complementary predictions produced the strongest improvements. The final notebook loads compatible models or trains missing ones from raw data. Small, reused audit sets limit our conclusions. We acknowledge the established methods and prior work behind our investigation.</a:t>
            </a:r>
          </a:p>
          <a:p xmlns:a="http://schemas.openxmlformats.org/drawingml/2006/main">
            <a:r>
              <a:t/>
            </a:r>
          </a:p>
          <a:p xmlns:a="http://schemas.openxmlformats.org/drawingml/2006/main">
            <a:r>
              <a:t>Sources</a:t>
            </a:r>
          </a:p>
          <a:p xmlns:a="http://schemas.openxmlformats.org/drawingml/2006/main">
            <a:r>
              <a:t>docs/evidence/reproducible_final_notebook.md</a:t>
            </a:r>
          </a:p>
          <a:p xmlns:a="http://schemas.openxmlformats.org/drawingml/2006/main">
            <a:r>
              <a:t>src/final_study/README.md</a:t>
            </a:r>
          </a:p>
          <a:p xmlns:a="http://schemas.openxmlformats.org/drawingml/2006/main">
            <a:r>
              <a:t>docs/research/TOP_SOLUTION_RESEARCH.md</a:t>
            </a:r>
          </a:p>
          <a:p xmlns:a="http://schemas.openxmlformats.org/drawingml/2006/main">
            <a:r>
              <a:t>docs/research/post_v4_improvement_research.md</a:t>
            </a:r>
          </a:p>
          <a:p xmlns:a="http://schemas.openxmlformats.org/drawingml/2006/main">
            <a:r>
              <a:t>https://arxiv.org/abs/1706.02216</a:t>
            </a:r>
          </a:p>
          <a:p xmlns:a="http://schemas.openxmlformats.org/drawingml/2006/main">
            <a:r>
              <a:t>https://arxiv.org/abs/2308.13490</a:t>
            </a:r>
          </a:p>
          <a:p xmlns:a="http://schemas.openxmlformats.org/drawingml/2006/main">
            <a:r>
              <a:t>local/course/sc4000_course_proj.pdf, pp. 4, 9–14, 27–31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d1108a50bc48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0f36b8a8194149" /><Relationship Type="http://schemas.openxmlformats.org/officeDocument/2006/relationships/slideLayout" Target="/ppt/slideLayouts/slideLayout1.xml" Id="R8457d49bc8fc44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57d49bc8fc44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3a3714f63446d5" /><Relationship Type="http://schemas.openxmlformats.org/officeDocument/2006/relationships/image" Target="/ppt/media/image.png" Id="R3728e22724e14335" /><Relationship Type="http://schemas.openxmlformats.org/officeDocument/2006/relationships/notesSlide" Target="/ppt/notesSlides/notesSlide1.xml" Id="R5ad535aa1c6544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99ff9903434ec2" /><Relationship Type="http://schemas.openxmlformats.org/officeDocument/2006/relationships/notesSlide" Target="/ppt/notesSlides/notesSlide2.xml" Id="R8e269325c51b4e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9b25eacc7645d5" /><Relationship Type="http://schemas.openxmlformats.org/officeDocument/2006/relationships/notesSlide" Target="/ppt/notesSlides/notesSlide3.xml" Id="Rfbabcf9690b74a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c05cce1e464049" /><Relationship Type="http://schemas.openxmlformats.org/officeDocument/2006/relationships/notesSlide" Target="/ppt/notesSlides/notesSlide4.xml" Id="R938e6866ab8549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90a99cee564cff" /><Relationship Type="http://schemas.openxmlformats.org/officeDocument/2006/relationships/notesSlide" Target="/ppt/notesSlides/notesSlide5.xml" Id="Rf2efd73da6ea46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f47731192449fc" /><Relationship Type="http://schemas.openxmlformats.org/officeDocument/2006/relationships/notesSlide" Target="/ppt/notesSlides/notesSlide6.xml" Id="R99d0a9a81b4244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accc1b57f14d32" /><Relationship Type="http://schemas.openxmlformats.org/officeDocument/2006/relationships/notesSlide" Target="/ppt/notesSlides/notesSlide7.xml" Id="R652170b0a12f48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41e8e518c4e41b5" /><Relationship Type="http://schemas.openxmlformats.org/officeDocument/2006/relationships/notesSlide" Target="/ppt/notesSlides/notesSlide8.xml" Id="Re91d3a180f8f46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cab30945e24aa5" /><Relationship Type="http://schemas.openxmlformats.org/officeDocument/2006/relationships/notesSlide" Target="/ppt/notesSlides/notesSlide9.xml" Id="R3ce69aebf3604f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e47c908ac44e14" /><Relationship Type="http://schemas.openxmlformats.org/officeDocument/2006/relationships/chart" Target="/ppt/slides/charts/chart1.xml" Id="Reab73793cb3b48f3" /><Relationship Type="http://schemas.openxmlformats.org/officeDocument/2006/relationships/notesSlide" Target="/ppt/notesSlides/notesSlide10.xml" Id="R46819b7dc46c4a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7d5efe8f5184743" /><Relationship Type="http://schemas.openxmlformats.org/officeDocument/2006/relationships/chart" Target="/ppt/slides/charts/chart2.xml" Id="Ra9517a81185f446b" /><Relationship Type="http://schemas.openxmlformats.org/officeDocument/2006/relationships/notesSlide" Target="/ppt/notesSlides/notesSlide11.xml" Id="Rc82439e23db34e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7fca662e654bba" /><Relationship Type="http://schemas.openxmlformats.org/officeDocument/2006/relationships/chart" Target="/ppt/slides/charts/chart3.xml" Id="Rbc78132ef05c45e9" /><Relationship Type="http://schemas.openxmlformats.org/officeDocument/2006/relationships/notesSlide" Target="/ppt/notesSlides/notesSlide12.xml" Id="R54e61205cca1477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94be437c7a14341" /><Relationship Type="http://schemas.openxmlformats.org/officeDocument/2006/relationships/chart" Target="/ppt/slides/charts/chart4.xml" Id="Rdfcc342d33444aeb" /><Relationship Type="http://schemas.openxmlformats.org/officeDocument/2006/relationships/notesSlide" Target="/ppt/notesSlides/notesSlide13.xml" Id="Ra1c9fe968cdb4d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0e26debaaa24fd8" /><Relationship Type="http://schemas.openxmlformats.org/officeDocument/2006/relationships/notesSlide" Target="/ppt/notesSlides/notesSlide14.xml" Id="R0c0d443e0e2e4d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f1f0ca8744b4628" /><Relationship Type="http://schemas.openxmlformats.org/officeDocument/2006/relationships/notesSlide" Target="/ppt/notesSlides/notesSlide15.xml" Id="R2ed7b5482e1c4b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a2e81c68f984ddf" /><Relationship Type="http://schemas.openxmlformats.org/officeDocument/2006/relationships/notesSlide" Target="/ppt/notesSlides/notesSlide16.xml" Id="R7342d4ead49049c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57e79aaf9e49b9" /><Relationship Type="http://schemas.openxmlformats.org/officeDocument/2006/relationships/chart" Target="/ppt/slides/charts/chart5.xml" Id="Rb367522cc83641e6" /><Relationship Type="http://schemas.openxmlformats.org/officeDocument/2006/relationships/notesSlide" Target="/ppt/notesSlides/notesSlide17.xml" Id="Rc8e12fcb17ea4fb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73a424a7cee476c" /><Relationship Type="http://schemas.openxmlformats.org/officeDocument/2006/relationships/notesSlide" Target="/ppt/notesSlides/notesSlide18.xml" Id="R0a39ff7853f145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Reference GraphSAGE</c:v>
          </c:tx>
          <c:spPr>
            <a:solidFill xmlns:a="http://schemas.openxmlformats.org/drawingml/2006/main">
              <a:srgbClr val="276789"/>
            </a:solidFill>
            <a:ln xmlns:a="http://schemas.openxmlformats.org/drawingml/2006/main" w="28575">
              <a:solidFill>
                <a:srgbClr val="276789"/>
              </a:solidFill>
            </a:ln>
          </c:spPr>
          <c:marker>
            <c:symbol val="circle"/>
            <c:size val="8"/>
            <c:spPr>
              <a:solidFill xmlns:a="http://schemas.openxmlformats.org/drawingml/2006/main">
                <a:srgbClr val="276789"/>
              </a:solidFill>
            </c:spPr>
          </c:marker>
          <c:cat>
            <c:numRef>
              <c:f>'Chart Data'!$A$2:$A$5</c:f>
              <c:numCache>
                <c:formatCode>General</c:formatCode>
                <c:ptCount val="4"/>
                <c:pt idx="0">
                  <c:v>512</c:v>
                </c:pt>
                <c:pt idx="1">
                  <c:v>1024</c:v>
                </c:pt>
                <c:pt idx="2">
                  <c:v>2048</c:v>
                </c:pt>
                <c:pt idx="3">
                  <c:v>4096</c:v>
                </c:pt>
              </c:numCache>
            </c:numRef>
          </c:cat>
          <c:val>
            <c:numRef>
              <c:f>'Chart Data'!$B$2:$B$5</c:f>
              <c:numCache>
                <c:formatCode>0.00</c:formatCode>
                <c:ptCount val="4"/>
                <c:pt idx="0">
                  <c:v>0.26358851</c:v>
                </c:pt>
                <c:pt idx="1">
                  <c:v>0.27485397</c:v>
                </c:pt>
                <c:pt idx="2">
                  <c:v>0.22746918</c:v>
                </c:pt>
                <c:pt idx="3">
                  <c:v>0.22237536</c:v>
                </c:pt>
              </c:numCache>
            </c:numRef>
          </c:val>
          <c:smooth val="0"/>
        </c:ser>
        <c:ser>
          <c:idx val="1"/>
          <c:order val="1"/>
          <c:tx>
            <c:v>Masks + context GraphSAGE</c:v>
          </c:tx>
          <c:spPr>
            <a:solidFill xmlns:a="http://schemas.openxmlformats.org/drawingml/2006/main">
              <a:srgbClr val="168477"/>
            </a:solidFill>
            <a:ln xmlns:a="http://schemas.openxmlformats.org/drawingml/2006/main" w="28575">
              <a:solidFill>
                <a:srgbClr val="168477"/>
              </a:solidFill>
            </a:ln>
          </c:spPr>
          <c:marker>
            <c:symbol val="circle"/>
            <c:size val="8"/>
            <c:spPr>
              <a:solidFill xmlns:a="http://schemas.openxmlformats.org/drawingml/2006/main">
                <a:srgbClr val="168477"/>
              </a:solidFill>
            </c:spPr>
          </c:marker>
          <c:cat>
            <c:numRef>
              <c:f>'Chart Data'!$C$2:$C$5</c:f>
              <c:numCache>
                <c:formatCode>General</c:formatCode>
                <c:ptCount val="4"/>
                <c:pt idx="0">
                  <c:v>512</c:v>
                </c:pt>
                <c:pt idx="1">
                  <c:v>1024</c:v>
                </c:pt>
                <c:pt idx="2">
                  <c:v>2048</c:v>
                </c:pt>
                <c:pt idx="3">
                  <c:v>4096</c:v>
                </c:pt>
              </c:numCache>
            </c:numRef>
          </c:cat>
          <c:val>
            <c:numRef>
              <c:f>'Chart Data'!$D$2:$D$5</c:f>
              <c:numCache>
                <c:formatCode>0.00</c:formatCode>
                <c:ptCount val="4"/>
                <c:pt idx="0">
                  <c:v>0.28066803</c:v>
                </c:pt>
                <c:pt idx="1">
                  <c:v>0.24563273</c:v>
                </c:pt>
                <c:pt idx="2">
                  <c:v>0.25222786</c:v>
                </c:pt>
                <c:pt idx="3">
                  <c:v>0.24870618</c:v>
                </c:pt>
              </c:numCache>
            </c:numRef>
          </c:val>
          <c:smooth val="0"/>
        </c:ser>
        <c:dLbls>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72768"/>
      </c:catAx>
      <c:valAx>
        <c:axId val="48672768"/>
        <c:scaling>
          <c:orientation val="minMax"/>
          <c:max val="0.35"/>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650">
                    <a:solidFill>
                      <a:srgbClr val="102B3F"/>
                    </a:solidFill>
                    <a:latin typeface="Helvetica Neue"/>
                    <a:ea typeface="Helvetica Neue"/>
                    <a:cs typeface="Helvetica Neue"/>
                  </a:rPr>
                  <a:t>Mean development Kendall tau</a:t>
                </a:r>
              </a:p>
            </c:rich>
          </c:tx>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64 configurations / graph</c:v>
          </c:tx>
          <c:spPr>
            <a:solidFill xmlns:a="http://schemas.openxmlformats.org/drawingml/2006/main">
              <a:srgbClr val="276789"/>
            </a:solidFill>
            <a:ln xmlns:a="http://schemas.openxmlformats.org/drawingml/2006/main" w="28575">
              <a:solidFill>
                <a:srgbClr val="276789"/>
              </a:solidFill>
            </a:ln>
          </c:spPr>
          <c:marker>
            <c:symbol val="circle"/>
            <c:size val="8"/>
            <c:spPr>
              <a:solidFill xmlns:a="http://schemas.openxmlformats.org/drawingml/2006/main">
                <a:srgbClr val="276789"/>
              </a:solidFill>
            </c:spPr>
          </c:marker>
          <c:cat>
            <c:strRef>
              <c:f>'Chart Data'!$A$2:$A$4</c:f>
              <c:strCache>
                <c:ptCount val="3"/>
                <c:pt idx="0">
                  <c:v>24 graphs</c:v>
                </c:pt>
                <c:pt idx="1">
                  <c:v>40 graphs</c:v>
                </c:pt>
                <c:pt idx="2">
                  <c:v>All eligible</c:v>
                </c:pt>
              </c:strCache>
            </c:strRef>
          </c:cat>
          <c:val>
            <c:numRef>
              <c:f>'Chart Data'!$B$2:$B$4</c:f>
              <c:numCache>
                <c:formatCode>0.00</c:formatCode>
                <c:ptCount val="3"/>
                <c:pt idx="0">
                  <c:v>0.28066803</c:v>
                </c:pt>
                <c:pt idx="1">
                  <c:v>0.29126887</c:v>
                </c:pt>
                <c:pt idx="2">
                  <c:v>0.3202629</c:v>
                </c:pt>
              </c:numCache>
            </c:numRef>
          </c:val>
          <c:smooth val="0"/>
        </c:ser>
        <c:ser>
          <c:idx val="1"/>
          <c:order val="1"/>
          <c:tx>
            <c:v>128 configurations / graph</c:v>
          </c:tx>
          <c:spPr>
            <a:solidFill xmlns:a="http://schemas.openxmlformats.org/drawingml/2006/main">
              <a:srgbClr val="168477"/>
            </a:solidFill>
            <a:ln xmlns:a="http://schemas.openxmlformats.org/drawingml/2006/main" w="28575">
              <a:solidFill>
                <a:srgbClr val="168477"/>
              </a:solidFill>
            </a:ln>
          </c:spPr>
          <c:marker>
            <c:symbol val="circle"/>
            <c:size val="8"/>
            <c:spPr>
              <a:solidFill xmlns:a="http://schemas.openxmlformats.org/drawingml/2006/main">
                <a:srgbClr val="168477"/>
              </a:solidFill>
            </c:spPr>
          </c:marker>
          <c:cat>
            <c:strRef>
              <c:f>'Chart Data'!$C$2:$C$4</c:f>
              <c:strCache>
                <c:ptCount val="3"/>
                <c:pt idx="0">
                  <c:v>24 graphs</c:v>
                </c:pt>
                <c:pt idx="1">
                  <c:v>40 graphs</c:v>
                </c:pt>
                <c:pt idx="2">
                  <c:v>All eligible</c:v>
                </c:pt>
              </c:strCache>
            </c:strRef>
          </c:cat>
          <c:val>
            <c:numRef>
              <c:f>'Chart Data'!$D$2:$D$4</c:f>
              <c:numCache>
                <c:formatCode>0.00</c:formatCode>
                <c:ptCount val="3"/>
                <c:pt idx="0">
                  <c:v>0.24537533</c:v>
                </c:pt>
                <c:pt idx="1">
                  <c:v>0.3288307</c:v>
                </c:pt>
                <c:pt idx="2">
                  <c:v>0.37828762</c:v>
                </c:pt>
              </c:numCache>
            </c:numRef>
          </c:val>
          <c:smooth val="0"/>
        </c:ser>
        <c:ser>
          <c:idx val="2"/>
          <c:order val="2"/>
          <c:tx>
            <c:v>256 configurations / graph</c:v>
          </c:tx>
          <c:spPr>
            <a:solidFill xmlns:a="http://schemas.openxmlformats.org/drawingml/2006/main">
              <a:srgbClr val="C8792C"/>
            </a:solidFill>
            <a:ln xmlns:a="http://schemas.openxmlformats.org/drawingml/2006/main" w="28575">
              <a:solidFill>
                <a:srgbClr val="C8792C"/>
              </a:solidFill>
            </a:ln>
          </c:spPr>
          <c:marker>
            <c:symbol val="circle"/>
            <c:size val="8"/>
            <c:spPr>
              <a:solidFill xmlns:a="http://schemas.openxmlformats.org/drawingml/2006/main">
                <a:srgbClr val="C8792C"/>
              </a:solidFill>
            </c:spPr>
          </c:marker>
          <c:cat>
            <c:strRef>
              <c:f>'Chart Data'!$E$2:$E$4</c:f>
              <c:strCache>
                <c:ptCount val="3"/>
                <c:pt idx="0">
                  <c:v>24 graphs</c:v>
                </c:pt>
                <c:pt idx="1">
                  <c:v>40 graphs</c:v>
                </c:pt>
                <c:pt idx="2">
                  <c:v>All eligible</c:v>
                </c:pt>
              </c:strCache>
            </c:strRef>
          </c:cat>
          <c:val>
            <c:numRef>
              <c:f>'Chart Data'!$F$2:$F$4</c:f>
              <c:numCache>
                <c:formatCode>0.00</c:formatCode>
                <c:ptCount val="3"/>
                <c:pt idx="0">
                  <c:v>0.24954811</c:v>
                </c:pt>
                <c:pt idx="1">
                  <c:v>0.28893585</c:v>
                </c:pt>
                <c:pt idx="2">
                  <c:v>0.19468046</c:v>
                </c:pt>
              </c:numCache>
            </c:numRef>
          </c:val>
          <c:smooth val="0"/>
        </c:ser>
        <c:dLbls>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72768"/>
      </c:catAx>
      <c:valAx>
        <c:axId val="48672768"/>
        <c:scaling>
          <c:orientation val="minMax"/>
          <c:max val="0.45"/>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650">
                    <a:solidFill>
                      <a:srgbClr val="102B3F"/>
                    </a:solidFill>
                    <a:latin typeface="Helvetica Neue"/>
                    <a:ea typeface="Helvetica Neue"/>
                    <a:cs typeface="Helvetica Neue"/>
                  </a:rPr>
                  <a:t>Mean development Kendall tau</a:t>
                </a:r>
              </a:p>
            </c:rich>
          </c:tx>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Log-runtime target</c:v>
          </c:tx>
          <c:spPr>
            <a:solidFill xmlns:a="http://schemas.openxmlformats.org/drawingml/2006/main">
              <a:srgbClr val="276789"/>
            </a:solidFill>
            <a:ln xmlns:a="http://schemas.openxmlformats.org/drawingml/2006/main" w="0">
              <a:solidFill>
                <a:srgbClr val="276789"/>
              </a:solidFill>
            </a:ln>
          </c:spPr>
          <c:cat>
            <c:strRef>
              <c:f>'Chart Data'!$A$2:$A$3</c:f>
              <c:strCache>
                <c:ptCount val="2"/>
                <c:pt idx="0">
                  <c:v>Fold 0</c:v>
                </c:pt>
                <c:pt idx="1">
                  <c:v>Fold 1</c:v>
                </c:pt>
              </c:strCache>
            </c:strRef>
          </c:cat>
          <c:val>
            <c:numRef>
              <c:f>'Chart Data'!$B$2:$B$3</c:f>
              <c:numCache>
                <c:formatCode>0.000</c:formatCode>
                <c:ptCount val="2"/>
                <c:pt idx="0">
                  <c:v>0.34885839</c:v>
                </c:pt>
                <c:pt idx="1">
                  <c:v>0.42591702</c:v>
                </c:pt>
              </c:numCache>
            </c:numRef>
          </c:val>
        </c:ser>
        <c:ser>
          <c:idx val="1"/>
          <c:order val="1"/>
          <c:tx>
            <c:v>Percentile target</c:v>
          </c:tx>
          <c:spPr>
            <a:solidFill xmlns:a="http://schemas.openxmlformats.org/drawingml/2006/main">
              <a:srgbClr val="168477"/>
            </a:solidFill>
            <a:ln xmlns:a="http://schemas.openxmlformats.org/drawingml/2006/main" w="0">
              <a:solidFill>
                <a:srgbClr val="168477"/>
              </a:solidFill>
            </a:ln>
          </c:spPr>
          <c:cat>
            <c:strRef>
              <c:f>'Chart Data'!$C$2:$C$3</c:f>
              <c:strCache>
                <c:ptCount val="2"/>
                <c:pt idx="0">
                  <c:v>Fold 0</c:v>
                </c:pt>
                <c:pt idx="1">
                  <c:v>Fold 1</c:v>
                </c:pt>
              </c:strCache>
            </c:strRef>
          </c:cat>
          <c:val>
            <c:numRef>
              <c:f>'Chart Data'!$D$2:$D$3</c:f>
              <c:numCache>
                <c:formatCode>0.000</c:formatCode>
                <c:ptCount val="2"/>
                <c:pt idx="0">
                  <c:v>0.41463764</c:v>
                </c:pt>
                <c:pt idx="1">
                  <c:v>0.46464798</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72768"/>
      </c:catAx>
      <c:valAx>
        <c:axId val="48672768"/>
        <c:scaling>
          <c:orientation val="minMax"/>
          <c:max val="0.55"/>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650">
                    <a:solidFill>
                      <a:srgbClr val="102B3F"/>
                    </a:solidFill>
                    <a:latin typeface="Helvetica Neue"/>
                    <a:ea typeface="Helvetica Neue"/>
                    <a:cs typeface="Helvetica Neue"/>
                  </a:rPr>
                  <a:t>Mean development Kendall tau</a:t>
                </a:r>
              </a:p>
            </c:rich>
          </c:tx>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XGBoost regression</c:v>
          </c:tx>
          <c:spPr>
            <a:solidFill xmlns:a="http://schemas.openxmlformats.org/drawingml/2006/main">
              <a:srgbClr val="276789"/>
            </a:solidFill>
            <a:ln xmlns:a="http://schemas.openxmlformats.org/drawingml/2006/main" w="0">
              <a:solidFill>
                <a:srgbClr val="276789"/>
              </a:solidFill>
            </a:ln>
          </c:spPr>
          <c:cat>
            <c:strRef>
              <c:f>'Chart Data'!$A$2:$A$5</c:f>
              <c:strCache>
                <c:ptCount val="4"/>
                <c:pt idx="0">
                  <c:v>NLP default</c:v>
                </c:pt>
                <c:pt idx="1">
                  <c:v>NLP random</c:v>
                </c:pt>
                <c:pt idx="2">
                  <c:v>XLA default</c:v>
                </c:pt>
                <c:pt idx="3">
                  <c:v>XLA random</c:v>
                </c:pt>
              </c:strCache>
            </c:strRef>
          </c:cat>
          <c:val>
            <c:numRef>
              <c:f>'Chart Data'!$B$2:$B$5</c:f>
              <c:numCache>
                <c:formatCode>0.000</c:formatCode>
                <c:ptCount val="4"/>
                <c:pt idx="0">
                  <c:v>0.36831944</c:v>
                </c:pt>
                <c:pt idx="1">
                  <c:v>0.67179268</c:v>
                </c:pt>
                <c:pt idx="2">
                  <c:v>0.05771692</c:v>
                </c:pt>
                <c:pt idx="3">
                  <c:v>0.32797359</c:v>
                </c:pt>
              </c:numCache>
            </c:numRef>
          </c:val>
        </c:ser>
        <c:ser>
          <c:idx val="1"/>
          <c:order val="1"/>
          <c:tx>
            <c:v>XGBoost pairwise ranking</c:v>
          </c:tx>
          <c:spPr>
            <a:solidFill xmlns:a="http://schemas.openxmlformats.org/drawingml/2006/main">
              <a:srgbClr val="168477"/>
            </a:solidFill>
            <a:ln xmlns:a="http://schemas.openxmlformats.org/drawingml/2006/main" w="0">
              <a:solidFill>
                <a:srgbClr val="168477"/>
              </a:solidFill>
            </a:ln>
          </c:spPr>
          <c:cat>
            <c:strRef>
              <c:f>'Chart Data'!$C$2:$C$5</c:f>
              <c:strCache>
                <c:ptCount val="4"/>
                <c:pt idx="0">
                  <c:v>NLP default</c:v>
                </c:pt>
                <c:pt idx="1">
                  <c:v>NLP random</c:v>
                </c:pt>
                <c:pt idx="2">
                  <c:v>XLA default</c:v>
                </c:pt>
                <c:pt idx="3">
                  <c:v>XLA random</c:v>
                </c:pt>
              </c:strCache>
            </c:strRef>
          </c:cat>
          <c:val>
            <c:numRef>
              <c:f>'Chart Data'!$D$2:$D$5</c:f>
              <c:numCache>
                <c:formatCode>0.000</c:formatCode>
                <c:ptCount val="4"/>
                <c:pt idx="0">
                  <c:v>0.41455974</c:v>
                </c:pt>
                <c:pt idx="1">
                  <c:v>0.69681618</c:v>
                </c:pt>
                <c:pt idx="2">
                  <c:v>0.13564004</c:v>
                </c:pt>
                <c:pt idx="3">
                  <c:v>0.29398154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72768"/>
      </c:catAx>
      <c:valAx>
        <c:axId val="48672768"/>
        <c:scaling>
          <c:orientation val="minMax"/>
          <c:max val="0.8"/>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650">
                    <a:solidFill>
                      <a:srgbClr val="102B3F"/>
                    </a:solidFill>
                    <a:latin typeface="Helvetica Neue"/>
                    <a:ea typeface="Helvetica Neue"/>
                    <a:cs typeface="Helvetica Neue"/>
                  </a:rPr>
                  <a:t>Mean development Kendall tau</a:t>
                </a:r>
              </a:p>
            </c:rich>
          </c:tx>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Basic HGB</c:v>
          </c:tx>
          <c:spPr>
            <a:solidFill xmlns:a="http://schemas.openxmlformats.org/drawingml/2006/main">
              <a:srgbClr val="276789"/>
            </a:solidFill>
            <a:ln xmlns:a="http://schemas.openxmlformats.org/drawingml/2006/main" w="0">
              <a:solidFill>
                <a:srgbClr val="276789"/>
              </a:solidFill>
            </a:ln>
          </c:spPr>
          <c:cat>
            <c:strRef>
              <c:f>'Chart Data'!$A$2:$A$5</c:f>
              <c:strCache>
                <c:ptCount val="4"/>
                <c:pt idx="0">
                  <c:v>NLP
default</c:v>
                </c:pt>
                <c:pt idx="1">
                  <c:v>NLP
random</c:v>
                </c:pt>
                <c:pt idx="2">
                  <c:v>XLA
default</c:v>
                </c:pt>
                <c:pt idx="3">
                  <c:v>XLA
random</c:v>
                </c:pt>
              </c:strCache>
            </c:strRef>
          </c:cat>
          <c:val>
            <c:numRef>
              <c:f>'Chart Data'!$B$2:$B$5</c:f>
              <c:numCache>
                <c:formatCode>0.00</c:formatCode>
                <c:ptCount val="4"/>
                <c:pt idx="0">
                  <c:v>0.25634175</c:v>
                </c:pt>
                <c:pt idx="1">
                  <c:v>0.37954759</c:v>
                </c:pt>
                <c:pt idx="2">
                  <c:v>0.01094725</c:v>
                </c:pt>
                <c:pt idx="3">
                  <c:v>0.12866254</c:v>
                </c:pt>
              </c:numCache>
            </c:numRef>
          </c:val>
        </c:ser>
        <c:ser>
          <c:idx val="1"/>
          <c:order val="1"/>
          <c:tx>
            <c:v>Selected system</c:v>
          </c:tx>
          <c:spPr>
            <a:solidFill xmlns:a="http://schemas.openxmlformats.org/drawingml/2006/main">
              <a:srgbClr val="168477"/>
            </a:solidFill>
            <a:ln xmlns:a="http://schemas.openxmlformats.org/drawingml/2006/main" w="0">
              <a:solidFill>
                <a:srgbClr val="168477"/>
              </a:solidFill>
            </a:ln>
          </c:spPr>
          <c:cat>
            <c:strRef>
              <c:f>'Chart Data'!$C$2:$C$5</c:f>
              <c:strCache>
                <c:ptCount val="4"/>
                <c:pt idx="0">
                  <c:v>NLP
default</c:v>
                </c:pt>
                <c:pt idx="1">
                  <c:v>NLP
random</c:v>
                </c:pt>
                <c:pt idx="2">
                  <c:v>XLA
default</c:v>
                </c:pt>
                <c:pt idx="3">
                  <c:v>XLA
random</c:v>
                </c:pt>
              </c:strCache>
            </c:strRef>
          </c:cat>
          <c:val>
            <c:numRef>
              <c:f>'Chart Data'!$D$2:$D$5</c:f>
              <c:numCache>
                <c:formatCode>0.00</c:formatCode>
                <c:ptCount val="4"/>
                <c:pt idx="0">
                  <c:v>0.45357905</c:v>
                </c:pt>
                <c:pt idx="1">
                  <c:v>0.68428005</c:v>
                </c:pt>
                <c:pt idx="2">
                  <c:v>0.09434785</c:v>
                </c:pt>
                <c:pt idx="3">
                  <c:v>0.27115591</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dLblPos val="outEnd"/>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72768"/>
      </c:catAx>
      <c:valAx>
        <c:axId val="48672768"/>
        <c:scaling>
          <c:orientation val="minMax"/>
          <c:max val="0.8"/>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650">
                    <a:solidFill>
                      <a:srgbClr val="102B3F"/>
                    </a:solidFill>
                    <a:latin typeface="Helvetica Neue"/>
                    <a:ea typeface="Helvetica Neue"/>
                    <a:cs typeface="Helvetica Neue"/>
                  </a:rPr>
                  <a:t>Mean audit Kendall tau</a:t>
                </a:r>
              </a:p>
            </c:rich>
          </c:tx>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3F"/>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3F"/>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3728e22724e1433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4B145E-5E70-4DAB-8FAD-8922EDF1C8F0}"/>
              </a:ext>
            </a:extLst>
          </p:cNvPr>
          <p:cNvSpPr>
            <a:spLocks xmlns:a="http://schemas.openxmlformats.org/drawingml/2006/main" noGrp="1"/>
          </p:cNvSpPr>
          <p:nvPr/>
        </p:nvSpPr>
        <p:spPr>
          <a:xfrm xmlns:a="http://schemas.openxmlformats.org/drawingml/2006/main">
            <a:off x="609600" y="1619250"/>
            <a:ext cx="7191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Ranking compiler</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configurations</a:t>
            </a:r>
          </a:p>
        </p:txBody>
      </p:sp>
      <p:sp>
        <p:nvSpPr>
          <p:cNvPr id="3" name="">
            <a:extLst xmlns:a="http://schemas.openxmlformats.org/drawingml/2006/main">
              <a:ext uri="{FF2B5EF4-FFF2-40B4-BE49-F238E27FC236}">
                <a16:creationId xmlns:a16="http://schemas.microsoft.com/office/drawing/2014/main" id="{4E5DEC47-396A-4B10-9ADB-BEF8B4BE5613}"/>
              </a:ext>
            </a:extLst>
          </p:cNvPr>
          <p:cNvSpPr>
            <a:spLocks xmlns:a="http://schemas.openxmlformats.org/drawingml/2006/main" noGrp="1"/>
          </p:cNvSpPr>
          <p:nvPr/>
        </p:nvSpPr>
        <p:spPr>
          <a:xfrm xmlns:a="http://schemas.openxmlformats.org/drawingml/2006/main">
            <a:off x="647700" y="3714750"/>
            <a:ext cx="647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C9E5EB"/>
                </a:solidFill>
                <a:latin typeface="Helvetica Neue"/>
                <a:ea typeface="Helvetica Neue"/>
                <a:cs typeface="Helvetica Neue"/>
              </a:defRPr>
            </a:pPr>
            <a:r>
              <a:rPr sz="2400" b="0">
                <a:solidFill>
                  <a:srgbClr val="C9E5EB"/>
                </a:solidFill>
                <a:latin typeface="Helvetica Neue"/>
                <a:ea typeface="Helvetica Neue"/>
                <a:cs typeface="Helvetica Neue"/>
              </a:rPr>
              <a:t>Predicting which settings make</a:t>
            </a:r>
          </a:p>
          <a:p xmlns:a="http://schemas.openxmlformats.org/drawingml/2006/main">
            <a:pPr>
              <a:defRPr sz="2400" b="0">
                <a:solidFill>
                  <a:srgbClr val="C9E5EB"/>
                </a:solidFill>
                <a:latin typeface="Helvetica Neue"/>
                <a:ea typeface="Helvetica Neue"/>
                <a:cs typeface="Helvetica Neue"/>
              </a:defRPr>
            </a:pPr>
            <a:r>
              <a:rPr sz="2400" b="0">
                <a:solidFill>
                  <a:srgbClr val="C9E5EB"/>
                </a:solidFill>
                <a:latin typeface="Helvetica Neue"/>
                <a:ea typeface="Helvetica Neue"/>
                <a:cs typeface="Helvetica Neue"/>
              </a:rPr>
              <a:t>an AI program run faster</a:t>
            </a:r>
          </a:p>
        </p:txBody>
      </p:sp>
      <p:sp>
        <p:nvSpPr>
          <p:cNvPr id="4" name="">
            <a:extLst xmlns:a="http://schemas.openxmlformats.org/drawingml/2006/main">
              <a:ext uri="{FF2B5EF4-FFF2-40B4-BE49-F238E27FC236}">
                <a16:creationId xmlns:a16="http://schemas.microsoft.com/office/drawing/2014/main" id="{AF0979DE-8DEC-4635-9CEC-3B6A73033BEF}"/>
              </a:ext>
            </a:extLst>
          </p:cNvPr>
          <p:cNvSpPr>
            <a:spLocks xmlns:a="http://schemas.openxmlformats.org/drawingml/2006/main" noGrp="1"/>
          </p:cNvSpPr>
          <p:nvPr/>
        </p:nvSpPr>
        <p:spPr>
          <a:xfrm xmlns:a="http://schemas.openxmlformats.org/drawingml/2006/main">
            <a:off x="647700" y="5762625"/>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9E5EB"/>
                </a:solidFill>
                <a:latin typeface="Helvetica Neue"/>
                <a:ea typeface="Helvetica Neue"/>
                <a:cs typeface="Helvetica Neue"/>
              </a:defRPr>
            </a:pPr>
            <a:r>
              <a:rPr sz="1800" b="0">
                <a:solidFill>
                  <a:srgbClr val="C9E5EB"/>
                </a:solidFill>
                <a:latin typeface="Helvetica Neue"/>
                <a:ea typeface="Helvetica Neue"/>
                <a:cs typeface="Helvetica Neue"/>
              </a:rPr>
              <a:t>SC4000 Machine Learning Course Project</a:t>
            </a:r>
          </a:p>
        </p:txBody>
      </p:sp>
    </p:spTree>
    <p:extLst>
      <p:ext uri="{BB962C8B-B14F-4D97-AF65-F5344CB8AC3E}">
        <p14:creationId xmlns:p14="http://schemas.microsoft.com/office/powerpoint/2010/main" val="4407970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D92213-FF91-4687-A81F-683D94770475}"/>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What are we predicting?</a:t>
            </a:r>
          </a:p>
        </p:txBody>
      </p:sp>
      <p:sp>
        <p:nvSpPr>
          <p:cNvPr id="2" name="">
            <a:extLst xmlns:a="http://schemas.openxmlformats.org/drawingml/2006/main">
              <a:ext uri="{FF2B5EF4-FFF2-40B4-BE49-F238E27FC236}">
                <a16:creationId xmlns:a16="http://schemas.microsoft.com/office/drawing/2014/main" id="{E51C196C-6FF9-4FFC-83B7-2CC8EEC98DF5}"/>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One computation graph can have many compiler configurations.</a:t>
            </a:r>
          </a:p>
        </p:txBody>
      </p:sp>
      <p:sp>
        <p:nvSpPr>
          <p:cNvPr id="3" name="">
            <a:extLst xmlns:a="http://schemas.openxmlformats.org/drawingml/2006/main">
              <a:ext uri="{FF2B5EF4-FFF2-40B4-BE49-F238E27FC236}">
                <a16:creationId xmlns:a16="http://schemas.microsoft.com/office/drawing/2014/main" id="{BF3607C1-51EA-4B6E-8D70-9271AF1BBC83}"/>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02</a:t>
            </a:r>
          </a:p>
        </p:txBody>
      </p:sp>
      <p:graphicFrame>
        <p:nvGraphicFramePr>
          <p:cNvPr id="12" name=""/>
          <p:cNvGraphicFramePr/>
          <p:nvPr/>
        </p:nvGraphicFramePr>
        <p:xfrm>
          <a:off xmlns:a="http://schemas.openxmlformats.org/drawingml/2006/main" x="628650" y="2095500"/>
          <a:ext xmlns:a="http://schemas.openxmlformats.org/drawingml/2006/main" cx="5524500" cy="2857500"/>
        </p:xfrm>
        <a:graphic xmlns:a="http://schemas.openxmlformats.org/drawingml/2006/main">
          <a:graphicData uri="http://schemas.openxmlformats.org/drawingml/2006/table">
            <a:tbl>
              <a:tblPr/>
              <a:tblGrid>
                <a:gridCol w="3143250"/>
                <a:gridCol w="2381250"/>
              </a:tblGrid>
              <a:tr h="714375">
                <a:tc>
                  <a:txBody>
                    <a:bodyPr>
                      <a:noAutofit/>
                    </a:bodyPr>
                    <a:lstStyle/>
                    <a:p>
                      <a:r>
                        <a:rPr sz="2250" b="1">
                          <a:solidFill>
                            <a:srgbClr val="FFFFFF"/>
                          </a:solidFill>
                          <a:latin typeface="Helvetica Neue"/>
                          <a:ea typeface="Helvetica Neue"/>
                          <a:cs typeface="Helvetica Neue"/>
                        </a:rPr>
                        <a:t>Configuration</a:t>
                      </a:r>
                    </a:p>
                  </a:txBody>
                  <a:tcPr marL="91440" marR="91440" marT="45720" marB="45720">
                    <a:solidFill>
                      <a:srgbClr val="102B3F"/>
                    </a:solidFill>
                  </a:tcPr>
                </a:tc>
                <a:tc>
                  <a:txBody>
                    <a:bodyPr>
                      <a:noAutofit/>
                    </a:bodyPr>
                    <a:lstStyle/>
                    <a:p>
                      <a:r>
                        <a:rPr sz="2250" b="1">
                          <a:solidFill>
                            <a:srgbClr val="FFFFFF"/>
                          </a:solidFill>
                          <a:latin typeface="Helvetica Neue"/>
                          <a:ea typeface="Helvetica Neue"/>
                          <a:cs typeface="Helvetica Neue"/>
                        </a:rPr>
                        <a:t>Measured runtime</a:t>
                      </a:r>
                    </a:p>
                  </a:txBody>
                  <a:tcPr marL="91440" marR="91440" marT="45720" marB="45720">
                    <a:solidFill>
                      <a:srgbClr val="102B3F"/>
                    </a:solidFill>
                  </a:tcPr>
                </a:tc>
              </a:tr>
              <a:tr h="714375">
                <a:tc>
                  <a:txBody>
                    <a:bodyPr>
                      <a:noAutofit/>
                    </a:bodyPr>
                    <a:lstStyle/>
                    <a:p>
                      <a:r>
                        <a:rPr sz="2250" b="0">
                          <a:solidFill>
                            <a:srgbClr val="102B3F"/>
                          </a:solidFill>
                          <a:latin typeface="Helvetica Neue"/>
                          <a:ea typeface="Helvetica Neue"/>
                          <a:cs typeface="Helvetica Neue"/>
                        </a:rPr>
                        <a:t>A</a:t>
                      </a:r>
                    </a:p>
                  </a:txBody>
                  <a:tcPr marL="91440" marR="91440" marT="45720" marB="45720">
                    <a:solidFill>
                      <a:srgbClr val="FFFFFF"/>
                    </a:solidFill>
                  </a:tcPr>
                </a:tc>
                <a:tc>
                  <a:txBody>
                    <a:bodyPr>
                      <a:noAutofit/>
                    </a:bodyPr>
                    <a:lstStyle/>
                    <a:p>
                      <a:r>
                        <a:rPr sz="2250" b="0">
                          <a:solidFill>
                            <a:srgbClr val="102B3F"/>
                          </a:solidFill>
                          <a:latin typeface="Helvetica Neue"/>
                          <a:ea typeface="Helvetica Neue"/>
                          <a:cs typeface="Helvetica Neue"/>
                        </a:rPr>
                        <a:t>12 ms</a:t>
                      </a:r>
                    </a:p>
                  </a:txBody>
                  <a:tcPr marL="91440" marR="91440" marT="45720" marB="45720">
                    <a:solidFill>
                      <a:srgbClr val="FFFFFF"/>
                    </a:solidFill>
                  </a:tcPr>
                </a:tc>
              </a:tr>
              <a:tr h="714375">
                <a:tc>
                  <a:txBody>
                    <a:bodyPr>
                      <a:noAutofit/>
                    </a:bodyPr>
                    <a:lstStyle/>
                    <a:p>
                      <a:r>
                        <a:rPr sz="2250" b="0">
                          <a:solidFill>
                            <a:srgbClr val="102B3F"/>
                          </a:solidFill>
                          <a:latin typeface="Helvetica Neue"/>
                          <a:ea typeface="Helvetica Neue"/>
                          <a:cs typeface="Helvetica Neue"/>
                        </a:rPr>
                        <a:t>B</a:t>
                      </a:r>
                    </a:p>
                  </a:txBody>
                  <a:tcPr marL="91440" marR="91440" marT="45720" marB="45720">
                    <a:solidFill>
                      <a:srgbClr val="F3F7F9"/>
                    </a:solidFill>
                  </a:tcPr>
                </a:tc>
                <a:tc>
                  <a:txBody>
                    <a:bodyPr>
                      <a:noAutofit/>
                    </a:bodyPr>
                    <a:lstStyle/>
                    <a:p>
                      <a:r>
                        <a:rPr sz="2250" b="0">
                          <a:solidFill>
                            <a:srgbClr val="102B3F"/>
                          </a:solidFill>
                          <a:latin typeface="Helvetica Neue"/>
                          <a:ea typeface="Helvetica Neue"/>
                          <a:cs typeface="Helvetica Neue"/>
                        </a:rPr>
                        <a:t>8 ms</a:t>
                      </a:r>
                    </a:p>
                  </a:txBody>
                  <a:tcPr marL="91440" marR="91440" marT="45720" marB="45720">
                    <a:solidFill>
                      <a:srgbClr val="F3F7F9"/>
                    </a:solidFill>
                  </a:tcPr>
                </a:tc>
              </a:tr>
              <a:tr h="714375">
                <a:tc>
                  <a:txBody>
                    <a:bodyPr>
                      <a:noAutofit/>
                    </a:bodyPr>
                    <a:lstStyle/>
                    <a:p>
                      <a:r>
                        <a:rPr sz="2250" b="0">
                          <a:solidFill>
                            <a:srgbClr val="102B3F"/>
                          </a:solidFill>
                          <a:latin typeface="Helvetica Neue"/>
                          <a:ea typeface="Helvetica Neue"/>
                          <a:cs typeface="Helvetica Neue"/>
                        </a:rPr>
                        <a:t>C</a:t>
                      </a:r>
                    </a:p>
                  </a:txBody>
                  <a:tcPr marL="91440" marR="91440" marT="45720" marB="45720">
                    <a:solidFill>
                      <a:srgbClr val="FFFFFF"/>
                    </a:solidFill>
                  </a:tcPr>
                </a:tc>
                <a:tc>
                  <a:txBody>
                    <a:bodyPr>
                      <a:noAutofit/>
                    </a:bodyPr>
                    <a:lstStyle/>
                    <a:p>
                      <a:r>
                        <a:rPr sz="2250" b="0">
                          <a:solidFill>
                            <a:srgbClr val="102B3F"/>
                          </a:solidFill>
                          <a:latin typeface="Helvetica Neue"/>
                          <a:ea typeface="Helvetica Neue"/>
                          <a:cs typeface="Helvetica Neue"/>
                        </a:rPr>
                        <a:t>10 ms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AD683B-A7A8-41D3-952E-78AE097F8FEE}"/>
              </a:ext>
            </a:extLst>
          </p:cNvPr>
          <p:cNvSpPr>
            <a:spLocks xmlns:a="http://schemas.openxmlformats.org/drawingml/2006/main" noGrp="1"/>
          </p:cNvSpPr>
          <p:nvPr/>
        </p:nvSpPr>
        <p:spPr>
          <a:xfrm xmlns:a="http://schemas.openxmlformats.org/drawingml/2006/main">
            <a:off x="7000875" y="233362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16775"/>
                </a:solidFill>
                <a:latin typeface="Helvetica Neue"/>
                <a:ea typeface="Helvetica Neue"/>
                <a:cs typeface="Helvetica Neue"/>
              </a:defRPr>
            </a:pPr>
            <a:r>
              <a:rPr sz="2250" b="0">
                <a:solidFill>
                  <a:srgbClr val="516775"/>
                </a:solidFill>
                <a:latin typeface="Helvetica Neue"/>
                <a:ea typeface="Helvetica Neue"/>
                <a:cs typeface="Helvetica Neue"/>
              </a:rPr>
              <a:t>Desired ordering</a:t>
            </a:r>
          </a:p>
        </p:txBody>
      </p:sp>
      <p:sp>
        <p:nvSpPr>
          <p:cNvPr id="6" name="">
            <a:extLst xmlns:a="http://schemas.openxmlformats.org/drawingml/2006/main">
              <a:ext uri="{FF2B5EF4-FFF2-40B4-BE49-F238E27FC236}">
                <a16:creationId xmlns:a16="http://schemas.microsoft.com/office/drawing/2014/main" id="{E7DBA6A4-54B2-4337-8A70-94A70140CF15}"/>
              </a:ext>
            </a:extLst>
          </p:cNvPr>
          <p:cNvSpPr>
            <a:spLocks xmlns:a="http://schemas.openxmlformats.org/drawingml/2006/main" noGrp="1"/>
          </p:cNvSpPr>
          <p:nvPr/>
        </p:nvSpPr>
        <p:spPr>
          <a:xfrm xmlns:a="http://schemas.openxmlformats.org/drawingml/2006/main">
            <a:off x="7000875" y="3000375"/>
            <a:ext cx="4095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68477"/>
                </a:solidFill>
                <a:latin typeface="Helvetica Neue"/>
                <a:ea typeface="Helvetica Neue"/>
                <a:cs typeface="Helvetica Neue"/>
              </a:defRPr>
            </a:pPr>
            <a:r>
              <a:rPr sz="4800" b="1">
                <a:solidFill>
                  <a:srgbClr val="168477"/>
                </a:solidFill>
                <a:latin typeface="Helvetica Neue"/>
                <a:ea typeface="Helvetica Neue"/>
                <a:cs typeface="Helvetica Neue"/>
              </a:rPr>
              <a:t>B, C, A</a:t>
            </a:r>
          </a:p>
        </p:txBody>
      </p:sp>
      <p:sp>
        <p:nvSpPr>
          <p:cNvPr id="7" name="">
            <a:extLst xmlns:a="http://schemas.openxmlformats.org/drawingml/2006/main">
              <a:ext uri="{FF2B5EF4-FFF2-40B4-BE49-F238E27FC236}">
                <a16:creationId xmlns:a16="http://schemas.microsoft.com/office/drawing/2014/main" id="{247D30F9-E692-4F63-92B7-E1EF1EAF2B58}"/>
              </a:ext>
            </a:extLst>
          </p:cNvPr>
          <p:cNvSpPr>
            <a:spLocks xmlns:a="http://schemas.openxmlformats.org/drawingml/2006/main" noGrp="1"/>
          </p:cNvSpPr>
          <p:nvPr/>
        </p:nvSpPr>
        <p:spPr>
          <a:xfrm xmlns:a="http://schemas.openxmlformats.org/drawingml/2006/main">
            <a:off x="7029450" y="390525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B3F"/>
                </a:solidFill>
                <a:latin typeface="Helvetica Neue"/>
                <a:ea typeface="Helvetica Neue"/>
                <a:cs typeface="Helvetica Neue"/>
              </a:defRPr>
            </a:pPr>
            <a:r>
              <a:rPr sz="2250" b="0">
                <a:solidFill>
                  <a:srgbClr val="102B3F"/>
                </a:solidFill>
                <a:latin typeface="Helvetica Neue"/>
                <a:ea typeface="Helvetica Neue"/>
                <a:cs typeface="Helvetica Neue"/>
              </a:rPr>
              <a:t>Fastest first</a:t>
            </a:r>
          </a:p>
        </p:txBody>
      </p:sp>
      <p:sp>
        <p:nvSpPr>
          <p:cNvPr id="8" name="">
            <a:extLst xmlns:a="http://schemas.openxmlformats.org/drawingml/2006/main">
              <a:ext uri="{FF2B5EF4-FFF2-40B4-BE49-F238E27FC236}">
                <a16:creationId xmlns:a16="http://schemas.microsoft.com/office/drawing/2014/main" id="{B5C53646-9910-4A31-AE60-40ED207ED6D1}"/>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Learn from measured candidates, then rank unseen candidates.</a:t>
            </a:r>
          </a:p>
        </p:txBody>
      </p:sp>
    </p:spTree>
    <p:extLst>
      <p:ext uri="{BB962C8B-B14F-4D97-AF65-F5344CB8AC3E}">
        <p14:creationId xmlns:p14="http://schemas.microsoft.com/office/powerpoint/2010/main" val="10648695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7B9463-6EB1-4444-96FE-6D1304CC3C09}"/>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Our constraints</a:t>
            </a:r>
          </a:p>
        </p:txBody>
      </p:sp>
      <p:sp>
        <p:nvSpPr>
          <p:cNvPr id="2" name="">
            <a:extLst xmlns:a="http://schemas.openxmlformats.org/drawingml/2006/main">
              <a:ext uri="{FF2B5EF4-FFF2-40B4-BE49-F238E27FC236}">
                <a16:creationId xmlns:a16="http://schemas.microsoft.com/office/drawing/2014/main" id="{9E177C52-AC4D-45BA-9A5F-4E83BBFE015E}"/>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Resource limits influenced both representation and experiment design.</a:t>
            </a:r>
          </a:p>
        </p:txBody>
      </p:sp>
      <p:sp>
        <p:nvSpPr>
          <p:cNvPr id="3" name="">
            <a:extLst xmlns:a="http://schemas.openxmlformats.org/drawingml/2006/main">
              <a:ext uri="{FF2B5EF4-FFF2-40B4-BE49-F238E27FC236}">
                <a16:creationId xmlns:a16="http://schemas.microsoft.com/office/drawing/2014/main" id="{FCB5FA8A-D492-4E31-98E5-DFD908BF14E6}"/>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53A9AB09-8F6B-4E9C-934B-AC16A3A56CAB}"/>
              </a:ext>
            </a:extLst>
          </p:cNvPr>
          <p:cNvSpPr>
            <a:spLocks xmlns:a="http://schemas.openxmlformats.org/drawingml/2006/main" noGrp="1"/>
          </p:cNvSpPr>
          <p:nvPr/>
        </p:nvSpPr>
        <p:spPr>
          <a:xfrm xmlns:a="http://schemas.openxmlformats.org/drawingml/2006/main">
            <a:off x="628650" y="21907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68477"/>
                </a:solidFill>
                <a:latin typeface="Helvetica Neue"/>
                <a:ea typeface="Helvetica Neue"/>
                <a:cs typeface="Helvetica Neue"/>
              </a:defRPr>
            </a:pPr>
            <a:r>
              <a:rPr sz="5700" b="1">
                <a:solidFill>
                  <a:srgbClr val="168477"/>
                </a:solidFill>
                <a:latin typeface="Helvetica Neue"/>
                <a:ea typeface="Helvetica Neue"/>
                <a:cs typeface="Helvetica Neue"/>
              </a:rPr>
              <a:t>12–13 GB</a:t>
            </a:r>
          </a:p>
        </p:txBody>
      </p:sp>
      <p:sp>
        <p:nvSpPr>
          <p:cNvPr id="5" name="">
            <a:extLst xmlns:a="http://schemas.openxmlformats.org/drawingml/2006/main">
              <a:ext uri="{FF2B5EF4-FFF2-40B4-BE49-F238E27FC236}">
                <a16:creationId xmlns:a16="http://schemas.microsoft.com/office/drawing/2014/main" id="{63E8C215-F80B-4A79-AC5E-E7F83FC53041}"/>
              </a:ext>
            </a:extLst>
          </p:cNvPr>
          <p:cNvSpPr>
            <a:spLocks xmlns:a="http://schemas.openxmlformats.org/drawingml/2006/main" noGrp="1"/>
          </p:cNvSpPr>
          <p:nvPr/>
        </p:nvSpPr>
        <p:spPr>
          <a:xfrm xmlns:a="http://schemas.openxmlformats.org/drawingml/2006/main">
            <a:off x="666750" y="32861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16775"/>
                </a:solidFill>
                <a:latin typeface="Helvetica Neue"/>
                <a:ea typeface="Helvetica Neue"/>
                <a:cs typeface="Helvetica Neue"/>
              </a:defRPr>
            </a:pPr>
            <a:r>
              <a:rPr sz="2175" b="0">
                <a:solidFill>
                  <a:srgbClr val="516775"/>
                </a:solidFill>
                <a:latin typeface="Helvetica Neue"/>
                <a:ea typeface="Helvetica Neue"/>
                <a:cs typeface="Helvetica Neue"/>
              </a:rPr>
              <a:t>Target Colab system RAM</a:t>
            </a:r>
          </a:p>
        </p:txBody>
      </p:sp>
      <p:sp>
        <p:nvSpPr>
          <p:cNvPr id="6" name="">
            <a:extLst xmlns:a="http://schemas.openxmlformats.org/drawingml/2006/main">
              <a:ext uri="{FF2B5EF4-FFF2-40B4-BE49-F238E27FC236}">
                <a16:creationId xmlns:a16="http://schemas.microsoft.com/office/drawing/2014/main" id="{171111C9-1092-4520-9B2B-023F79104619}"/>
              </a:ext>
            </a:extLst>
          </p:cNvPr>
          <p:cNvSpPr>
            <a:spLocks xmlns:a="http://schemas.openxmlformats.org/drawingml/2006/main" noGrp="1"/>
          </p:cNvSpPr>
          <p:nvPr/>
        </p:nvSpPr>
        <p:spPr>
          <a:xfrm xmlns:a="http://schemas.openxmlformats.org/drawingml/2006/main">
            <a:off x="6429375" y="21431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B3F"/>
                </a:solidFill>
                <a:latin typeface="Helvetica Neue"/>
                <a:ea typeface="Helvetica Neue"/>
                <a:cs typeface="Helvetica Neue"/>
              </a:defRPr>
            </a:pPr>
            <a:r>
              <a:rPr sz="2400" b="1">
                <a:solidFill>
                  <a:srgbClr val="102B3F"/>
                </a:solidFill>
                <a:latin typeface="Helvetica Neue"/>
                <a:ea typeface="Helvetica Neue"/>
                <a:cs typeface="Helvetica Neue"/>
              </a:rPr>
              <a:t>CPU training</a:t>
            </a:r>
          </a:p>
        </p:txBody>
      </p:sp>
      <p:sp>
        <p:nvSpPr>
          <p:cNvPr id="7" name="">
            <a:extLst xmlns:a="http://schemas.openxmlformats.org/drawingml/2006/main">
              <a:ext uri="{FF2B5EF4-FFF2-40B4-BE49-F238E27FC236}">
                <a16:creationId xmlns:a16="http://schemas.microsoft.com/office/drawing/2014/main" id="{FE3B4E89-E661-45B2-9543-65146353BC6D}"/>
              </a:ext>
            </a:extLst>
          </p:cNvPr>
          <p:cNvSpPr>
            <a:spLocks xmlns:a="http://schemas.openxmlformats.org/drawingml/2006/main" noGrp="1"/>
          </p:cNvSpPr>
          <p:nvPr/>
        </p:nvSpPr>
        <p:spPr>
          <a:xfrm xmlns:a="http://schemas.openxmlformats.org/drawingml/2006/main">
            <a:off x="6429375" y="266700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Large graph/configuration tensors</a:t>
            </a:r>
          </a:p>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made full expansion impractical.</a:t>
            </a:r>
          </a:p>
        </p:txBody>
      </p:sp>
      <p:sp>
        <p:nvSpPr>
          <p:cNvPr id="8" name="">
            <a:extLst xmlns:a="http://schemas.openxmlformats.org/drawingml/2006/main">
              <a:ext uri="{FF2B5EF4-FFF2-40B4-BE49-F238E27FC236}">
                <a16:creationId xmlns:a16="http://schemas.microsoft.com/office/drawing/2014/main" id="{BAFBF516-716D-48B0-ABD9-2B9F2416145E}"/>
              </a:ext>
            </a:extLst>
          </p:cNvPr>
          <p:cNvSpPr>
            <a:spLocks xmlns:a="http://schemas.openxmlformats.org/drawingml/2006/main" noGrp="1"/>
          </p:cNvSpPr>
          <p:nvPr/>
        </p:nvSpPr>
        <p:spPr>
          <a:xfrm xmlns:a="http://schemas.openxmlformats.org/drawingml/2006/main">
            <a:off x="6429375" y="39528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B3F"/>
                </a:solidFill>
                <a:latin typeface="Helvetica Neue"/>
                <a:ea typeface="Helvetica Neue"/>
                <a:cs typeface="Helvetica Neue"/>
              </a:defRPr>
            </a:pPr>
            <a:r>
              <a:rPr sz="2250" b="1">
                <a:solidFill>
                  <a:srgbClr val="102B3F"/>
                </a:solidFill>
                <a:latin typeface="Helvetica Neue"/>
                <a:ea typeface="Helvetica Neue"/>
                <a:cs typeface="Helvetica Neue"/>
              </a:rPr>
              <a:t>Bounded sampling and extraction</a:t>
            </a:r>
          </a:p>
        </p:txBody>
      </p:sp>
      <p:sp>
        <p:nvSpPr>
          <p:cNvPr id="9" name="">
            <a:extLst xmlns:a="http://schemas.openxmlformats.org/drawingml/2006/main">
              <a:ext uri="{FF2B5EF4-FFF2-40B4-BE49-F238E27FC236}">
                <a16:creationId xmlns:a16="http://schemas.microsoft.com/office/drawing/2014/main" id="{4A14557C-9164-4836-97A0-4F7A8510A251}"/>
              </a:ext>
            </a:extLst>
          </p:cNvPr>
          <p:cNvSpPr>
            <a:spLocks xmlns:a="http://schemas.openxmlformats.org/drawingml/2006/main" noGrp="1"/>
          </p:cNvSpPr>
          <p:nvPr/>
        </p:nvSpPr>
        <p:spPr>
          <a:xfrm xmlns:a="http://schemas.openxmlformats.org/drawingml/2006/main">
            <a:off x="6429375" y="4476750"/>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3F"/>
                </a:solidFill>
                <a:latin typeface="Helvetica Neue"/>
                <a:ea typeface="Helvetica Neue"/>
                <a:cs typeface="Helvetica Neue"/>
              </a:defRPr>
            </a:pPr>
            <a:r>
              <a:rPr sz="2100" b="0">
                <a:solidFill>
                  <a:srgbClr val="102B3F"/>
                </a:solidFill>
                <a:latin typeface="Helvetica Neue"/>
                <a:ea typeface="Helvetica Neue"/>
                <a:cs typeface="Helvetica Neue"/>
              </a:rPr>
              <a:t>Isolated workers, temporary scratch</a:t>
            </a:r>
          </a:p>
          <a:p xmlns:a="http://schemas.openxmlformats.org/drawingml/2006/main">
            <a:pPr>
              <a:defRPr sz="2100" b="0">
                <a:solidFill>
                  <a:srgbClr val="102B3F"/>
                </a:solidFill>
                <a:latin typeface="Helvetica Neue"/>
                <a:ea typeface="Helvetica Neue"/>
                <a:cs typeface="Helvetica Neue"/>
              </a:defRPr>
            </a:pPr>
            <a:r>
              <a:rPr sz="2100" b="0">
                <a:solidFill>
                  <a:srgbClr val="102B3F"/>
                </a:solidFill>
                <a:latin typeface="Helvetica Neue"/>
                <a:ea typeface="Helvetica Neue"/>
                <a:cs typeface="Helvetica Neue"/>
              </a:rPr>
              <a:t>and resumable checkpoints.</a:t>
            </a:r>
          </a:p>
        </p:txBody>
      </p:sp>
      <p:sp>
        <p:nvSpPr>
          <p:cNvPr id="10" name="">
            <a:extLst xmlns:a="http://schemas.openxmlformats.org/drawingml/2006/main">
              <a:ext uri="{FF2B5EF4-FFF2-40B4-BE49-F238E27FC236}">
                <a16:creationId xmlns:a16="http://schemas.microsoft.com/office/drawing/2014/main" id="{80823200-1E70-4CF5-ACF3-1EF5B732C368}"/>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We tested the modelling trade-offs introduced by these limits.</a:t>
            </a:r>
          </a:p>
        </p:txBody>
      </p:sp>
    </p:spTree>
    <p:extLst>
      <p:ext uri="{BB962C8B-B14F-4D97-AF65-F5344CB8AC3E}">
        <p14:creationId xmlns:p14="http://schemas.microsoft.com/office/powerpoint/2010/main" val="7771952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7EF502-57BA-4758-81BD-1890D5114571}"/>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Measuring ranking quality</a:t>
            </a:r>
          </a:p>
        </p:txBody>
      </p:sp>
      <p:sp>
        <p:nvSpPr>
          <p:cNvPr id="2" name="">
            <a:extLst xmlns:a="http://schemas.openxmlformats.org/drawingml/2006/main">
              <a:ext uri="{FF2B5EF4-FFF2-40B4-BE49-F238E27FC236}">
                <a16:creationId xmlns:a16="http://schemas.microsoft.com/office/drawing/2014/main" id="{FCC456D6-CDDF-49B7-A31D-755AF5C1CFF4}"/>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Kendall’s tau compares the ordering of configuration pairs.</a:t>
            </a:r>
          </a:p>
        </p:txBody>
      </p:sp>
      <p:sp>
        <p:nvSpPr>
          <p:cNvPr id="3" name="">
            <a:extLst xmlns:a="http://schemas.openxmlformats.org/drawingml/2006/main">
              <a:ext uri="{FF2B5EF4-FFF2-40B4-BE49-F238E27FC236}">
                <a16:creationId xmlns:a16="http://schemas.microsoft.com/office/drawing/2014/main" id="{E5BDF902-A463-45D6-BA30-18DE9A72BEC1}"/>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5056E31A-448B-4636-92EF-D40095C586B3}"/>
              </a:ext>
            </a:extLst>
          </p:cNvPr>
          <p:cNvSpPr>
            <a:spLocks xmlns:a="http://schemas.openxmlformats.org/drawingml/2006/main" noGrp="1"/>
          </p:cNvSpPr>
          <p:nvPr/>
        </p:nvSpPr>
        <p:spPr>
          <a:xfrm xmlns:a="http://schemas.openxmlformats.org/drawingml/2006/main">
            <a:off x="647700" y="2009775"/>
            <a:ext cx="1000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B3F"/>
                </a:solidFill>
                <a:latin typeface="Helvetica Neue"/>
                <a:ea typeface="Helvetica Neue"/>
                <a:cs typeface="Helvetica Neue"/>
              </a:defRPr>
            </a:pPr>
            <a:r>
              <a:rPr sz="2250" b="1">
                <a:solidFill>
                  <a:srgbClr val="102B3F"/>
                </a:solidFill>
                <a:latin typeface="Helvetica Neue"/>
                <a:ea typeface="Helvetica Neue"/>
                <a:cs typeface="Helvetica Neue"/>
              </a:rPr>
              <a:t>Actual order: A, B, C</a:t>
            </a:r>
          </a:p>
        </p:txBody>
      </p:sp>
      <p:graphicFrame>
        <p:nvGraphicFramePr>
          <p:cNvPr id="11" name=""/>
          <p:cNvGraphicFramePr/>
          <p:nvPr/>
        </p:nvGraphicFramePr>
        <p:xfrm>
          <a:off xmlns:a="http://schemas.openxmlformats.org/drawingml/2006/main" x="628650" y="2695575"/>
          <a:ext xmlns:a="http://schemas.openxmlformats.org/drawingml/2006/main" cx="10934700" cy="2333625"/>
        </p:xfrm>
        <a:graphic xmlns:a="http://schemas.openxmlformats.org/drawingml/2006/main">
          <a:graphicData uri="http://schemas.openxmlformats.org/drawingml/2006/table">
            <a:tbl>
              <a:tblPr/>
              <a:tblGrid>
                <a:gridCol w="3333750"/>
                <a:gridCol w="5219700"/>
                <a:gridCol w="2381250"/>
              </a:tblGrid>
              <a:tr h="583406">
                <a:tc>
                  <a:txBody>
                    <a:bodyPr>
                      <a:noAutofit/>
                    </a:bodyPr>
                    <a:lstStyle/>
                    <a:p>
                      <a:r>
                        <a:rPr sz="2100" b="1">
                          <a:solidFill>
                            <a:srgbClr val="FFFFFF"/>
                          </a:solidFill>
                          <a:latin typeface="Helvetica Neue"/>
                          <a:ea typeface="Helvetica Neue"/>
                          <a:cs typeface="Helvetica Neue"/>
                        </a:rPr>
                        <a:t>Predicted order</a:t>
                      </a:r>
                    </a:p>
                  </a:txBody>
                  <a:tcPr marL="91440" marR="91440" marT="45720" marB="45720">
                    <a:solidFill>
                      <a:srgbClr val="102B3F"/>
                    </a:solidFill>
                  </a:tcPr>
                </a:tc>
                <a:tc>
                  <a:txBody>
                    <a:bodyPr>
                      <a:noAutofit/>
                    </a:bodyPr>
                    <a:lstStyle/>
                    <a:p>
                      <a:r>
                        <a:rPr sz="2100" b="1">
                          <a:solidFill>
                            <a:srgbClr val="FFFFFF"/>
                          </a:solidFill>
                          <a:latin typeface="Helvetica Neue"/>
                          <a:ea typeface="Helvetica Neue"/>
                          <a:cs typeface="Helvetica Neue"/>
                        </a:rPr>
                        <a:t>Correct / reversed pairs</a:t>
                      </a:r>
                    </a:p>
                  </a:txBody>
                  <a:tcPr marL="91440" marR="91440" marT="45720" marB="45720">
                    <a:solidFill>
                      <a:srgbClr val="102B3F"/>
                    </a:solidFill>
                  </a:tcPr>
                </a:tc>
                <a:tc>
                  <a:txBody>
                    <a:bodyPr>
                      <a:noAutofit/>
                    </a:bodyPr>
                    <a:lstStyle/>
                    <a:p>
                      <a:r>
                        <a:rPr sz="2100" b="1">
                          <a:solidFill>
                            <a:srgbClr val="FFFFFF"/>
                          </a:solidFill>
                          <a:latin typeface="Helvetica Neue"/>
                          <a:ea typeface="Helvetica Neue"/>
                          <a:cs typeface="Helvetica Neue"/>
                        </a:rPr>
                        <a:t>Tau</a:t>
                      </a:r>
                    </a:p>
                  </a:txBody>
                  <a:tcPr marL="91440" marR="91440" marT="45720" marB="45720">
                    <a:solidFill>
                      <a:srgbClr val="102B3F"/>
                    </a:solidFill>
                  </a:tcPr>
                </a:tc>
              </a:tr>
              <a:tr h="583406">
                <a:tc>
                  <a:txBody>
                    <a:bodyPr>
                      <a:noAutofit/>
                    </a:bodyPr>
                    <a:lstStyle/>
                    <a:p>
                      <a:r>
                        <a:rPr sz="2100" b="0">
                          <a:solidFill>
                            <a:srgbClr val="102B3F"/>
                          </a:solidFill>
                          <a:latin typeface="Helvetica Neue"/>
                          <a:ea typeface="Helvetica Neue"/>
                          <a:cs typeface="Helvetica Neue"/>
                        </a:rPr>
                        <a:t>A, B, C</a:t>
                      </a:r>
                    </a:p>
                  </a:txBody>
                  <a:tcPr marL="91440" marR="91440" marT="45720" marB="45720">
                    <a:solidFill>
                      <a:srgbClr val="FFFFFF"/>
                    </a:solidFill>
                  </a:tcPr>
                </a:tc>
                <a:tc>
                  <a:txBody>
                    <a:bodyPr>
                      <a:noAutofit/>
                    </a:bodyPr>
                    <a:lstStyle/>
                    <a:p>
                      <a:r>
                        <a:rPr sz="2100" b="0">
                          <a:solidFill>
                            <a:srgbClr val="102B3F"/>
                          </a:solidFill>
                          <a:latin typeface="Helvetica Neue"/>
                          <a:ea typeface="Helvetica Neue"/>
                          <a:cs typeface="Helvetica Neue"/>
                        </a:rPr>
                        <a:t>3 / 0</a:t>
                      </a:r>
                    </a:p>
                  </a:txBody>
                  <a:tcPr marL="91440" marR="91440" marT="45720" marB="45720">
                    <a:solidFill>
                      <a:srgbClr val="FFFFFF"/>
                    </a:solidFill>
                  </a:tcPr>
                </a:tc>
                <a:tc>
                  <a:txBody>
                    <a:bodyPr>
                      <a:noAutofit/>
                    </a:bodyPr>
                    <a:lstStyle/>
                    <a:p>
                      <a:r>
                        <a:rPr sz="2100" b="0">
                          <a:solidFill>
                            <a:srgbClr val="102B3F"/>
                          </a:solidFill>
                          <a:latin typeface="Helvetica Neue"/>
                          <a:ea typeface="Helvetica Neue"/>
                          <a:cs typeface="Helvetica Neue"/>
                        </a:rPr>
                        <a:t>1.00</a:t>
                      </a:r>
                    </a:p>
                  </a:txBody>
                  <a:tcPr marL="91440" marR="91440" marT="45720" marB="45720">
                    <a:solidFill>
                      <a:srgbClr val="FFFFFF"/>
                    </a:solidFill>
                  </a:tcPr>
                </a:tc>
              </a:tr>
              <a:tr h="583406">
                <a:tc>
                  <a:txBody>
                    <a:bodyPr>
                      <a:noAutofit/>
                    </a:bodyPr>
                    <a:lstStyle/>
                    <a:p>
                      <a:r>
                        <a:rPr sz="2100" b="0">
                          <a:solidFill>
                            <a:srgbClr val="102B3F"/>
                          </a:solidFill>
                          <a:latin typeface="Helvetica Neue"/>
                          <a:ea typeface="Helvetica Neue"/>
                          <a:cs typeface="Helvetica Neue"/>
                        </a:rPr>
                        <a:t>A, C, B</a:t>
                      </a:r>
                    </a:p>
                  </a:txBody>
                  <a:tcPr marL="91440" marR="91440" marT="45720" marB="45720">
                    <a:solidFill>
                      <a:srgbClr val="F3F7F9"/>
                    </a:solidFill>
                  </a:tcPr>
                </a:tc>
                <a:tc>
                  <a:txBody>
                    <a:bodyPr>
                      <a:noAutofit/>
                    </a:bodyPr>
                    <a:lstStyle/>
                    <a:p>
                      <a:r>
                        <a:rPr sz="2100" b="0">
                          <a:solidFill>
                            <a:srgbClr val="102B3F"/>
                          </a:solidFill>
                          <a:latin typeface="Helvetica Neue"/>
                          <a:ea typeface="Helvetica Neue"/>
                          <a:cs typeface="Helvetica Neue"/>
                        </a:rPr>
                        <a:t>2 / 1</a:t>
                      </a:r>
                    </a:p>
                  </a:txBody>
                  <a:tcPr marL="91440" marR="91440" marT="45720" marB="45720">
                    <a:solidFill>
                      <a:srgbClr val="F3F7F9"/>
                    </a:solidFill>
                  </a:tcPr>
                </a:tc>
                <a:tc>
                  <a:txBody>
                    <a:bodyPr>
                      <a:noAutofit/>
                    </a:bodyPr>
                    <a:lstStyle/>
                    <a:p>
                      <a:r>
                        <a:rPr sz="2100" b="0">
                          <a:solidFill>
                            <a:srgbClr val="102B3F"/>
                          </a:solidFill>
                          <a:latin typeface="Helvetica Neue"/>
                          <a:ea typeface="Helvetica Neue"/>
                          <a:cs typeface="Helvetica Neue"/>
                        </a:rPr>
                        <a:t>0.33</a:t>
                      </a:r>
                    </a:p>
                  </a:txBody>
                  <a:tcPr marL="91440" marR="91440" marT="45720" marB="45720">
                    <a:solidFill>
                      <a:srgbClr val="F3F7F9"/>
                    </a:solidFill>
                  </a:tcPr>
                </a:tc>
              </a:tr>
              <a:tr h="583406">
                <a:tc>
                  <a:txBody>
                    <a:bodyPr>
                      <a:noAutofit/>
                    </a:bodyPr>
                    <a:lstStyle/>
                    <a:p>
                      <a:r>
                        <a:rPr sz="2100" b="0">
                          <a:solidFill>
                            <a:srgbClr val="102B3F"/>
                          </a:solidFill>
                          <a:latin typeface="Helvetica Neue"/>
                          <a:ea typeface="Helvetica Neue"/>
                          <a:cs typeface="Helvetica Neue"/>
                        </a:rPr>
                        <a:t>C, B, A</a:t>
                      </a:r>
                    </a:p>
                  </a:txBody>
                  <a:tcPr marL="91440" marR="91440" marT="45720" marB="45720">
                    <a:solidFill>
                      <a:srgbClr val="FFFFFF"/>
                    </a:solidFill>
                  </a:tcPr>
                </a:tc>
                <a:tc>
                  <a:txBody>
                    <a:bodyPr>
                      <a:noAutofit/>
                    </a:bodyPr>
                    <a:lstStyle/>
                    <a:p>
                      <a:r>
                        <a:rPr sz="2100" b="0">
                          <a:solidFill>
                            <a:srgbClr val="102B3F"/>
                          </a:solidFill>
                          <a:latin typeface="Helvetica Neue"/>
                          <a:ea typeface="Helvetica Neue"/>
                          <a:cs typeface="Helvetica Neue"/>
                        </a:rPr>
                        <a:t>0 / 3</a:t>
                      </a:r>
                    </a:p>
                  </a:txBody>
                  <a:tcPr marL="91440" marR="91440" marT="45720" marB="45720">
                    <a:solidFill>
                      <a:srgbClr val="FFFFFF"/>
                    </a:solidFill>
                  </a:tcPr>
                </a:tc>
                <a:tc>
                  <a:txBody>
                    <a:bodyPr>
                      <a:noAutofit/>
                    </a:bodyPr>
                    <a:lstStyle/>
                    <a:p>
                      <a:r>
                        <a:rPr sz="2100" b="0">
                          <a:solidFill>
                            <a:srgbClr val="102B3F"/>
                          </a:solidFill>
                          <a:latin typeface="Helvetica Neue"/>
                          <a:ea typeface="Helvetica Neue"/>
                          <a:cs typeface="Helvetica Neue"/>
                        </a:rPr>
                        <a:t>−1.00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C9EEE44-E35F-4D4D-B2C5-F2C67048F7CA}"/>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Higher is better. A tau of 0.5 does not mean 50% accuracy.</a:t>
            </a:r>
          </a:p>
        </p:txBody>
      </p:sp>
    </p:spTree>
    <p:extLst>
      <p:ext uri="{BB962C8B-B14F-4D97-AF65-F5344CB8AC3E}">
        <p14:creationId xmlns:p14="http://schemas.microsoft.com/office/powerpoint/2010/main" val="4319475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45CB4B-2CA0-45B5-B781-9EFA4F968EEB}"/>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Local evaluation and Kaggle scoring</a:t>
            </a:r>
          </a:p>
        </p:txBody>
      </p:sp>
      <p:sp>
        <p:nvSpPr>
          <p:cNvPr id="2" name="">
            <a:extLst xmlns:a="http://schemas.openxmlformats.org/drawingml/2006/main">
              <a:ext uri="{FF2B5EF4-FFF2-40B4-BE49-F238E27FC236}">
                <a16:creationId xmlns:a16="http://schemas.microsoft.com/office/drawing/2014/main" id="{99FDAE1E-355F-4842-B77A-21BDEEF48844}"/>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The collections use different measures of ranking quality.</a:t>
            </a:r>
          </a:p>
        </p:txBody>
      </p:sp>
      <p:sp>
        <p:nvSpPr>
          <p:cNvPr id="3" name="">
            <a:extLst xmlns:a="http://schemas.openxmlformats.org/drawingml/2006/main">
              <a:ext uri="{FF2B5EF4-FFF2-40B4-BE49-F238E27FC236}">
                <a16:creationId xmlns:a16="http://schemas.microsoft.com/office/drawing/2014/main" id="{9149D491-9AC3-4A32-B9EA-62AB13989FB5}"/>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05</a:t>
            </a:r>
          </a:p>
        </p:txBody>
      </p:sp>
      <p:graphicFrame>
        <p:nvGraphicFramePr>
          <p:cNvPr id="9" name=""/>
          <p:cNvGraphicFramePr/>
          <p:nvPr/>
        </p:nvGraphicFramePr>
        <p:xfrm>
          <a:off xmlns:a="http://schemas.openxmlformats.org/drawingml/2006/main" x="628650" y="2143125"/>
          <a:ext xmlns:a="http://schemas.openxmlformats.org/drawingml/2006/main" cx="10934700" cy="3048000"/>
        </p:xfrm>
        <a:graphic xmlns:a="http://schemas.openxmlformats.org/drawingml/2006/main">
          <a:graphicData uri="http://schemas.openxmlformats.org/drawingml/2006/table">
            <a:tbl>
              <a:tblPr/>
              <a:tblGrid>
                <a:gridCol w="3810000"/>
                <a:gridCol w="7124700"/>
              </a:tblGrid>
              <a:tr h="762000">
                <a:tc>
                  <a:txBody>
                    <a:bodyPr>
                      <a:noAutofit/>
                    </a:bodyPr>
                    <a:lstStyle/>
                    <a:p>
                      <a:r>
                        <a:rPr sz="2100" b="1">
                          <a:solidFill>
                            <a:srgbClr val="FFFFFF"/>
                          </a:solidFill>
                          <a:latin typeface="Helvetica Neue"/>
                          <a:ea typeface="Helvetica Neue"/>
                          <a:cs typeface="Helvetica Neue"/>
                        </a:rPr>
                        <a:t>Evaluation</a:t>
                      </a:r>
                    </a:p>
                  </a:txBody>
                  <a:tcPr marL="91440" marR="91440" marT="45720" marB="45720">
                    <a:solidFill>
                      <a:srgbClr val="102B3F"/>
                    </a:solidFill>
                  </a:tcPr>
                </a:tc>
                <a:tc>
                  <a:txBody>
                    <a:bodyPr>
                      <a:noAutofit/>
                    </a:bodyPr>
                    <a:lstStyle/>
                    <a:p>
                      <a:r>
                        <a:rPr sz="2100" b="1">
                          <a:solidFill>
                            <a:srgbClr val="FFFFFF"/>
                          </a:solidFill>
                          <a:latin typeface="Helvetica Neue"/>
                          <a:ea typeface="Helvetica Neue"/>
                          <a:cs typeface="Helvetica Neue"/>
                        </a:rPr>
                        <a:t>Question answered</a:t>
                      </a:r>
                    </a:p>
                  </a:txBody>
                  <a:tcPr marL="91440" marR="91440" marT="45720" marB="45720">
                    <a:solidFill>
                      <a:srgbClr val="102B3F"/>
                    </a:solidFill>
                  </a:tcPr>
                </a:tc>
              </a:tr>
              <a:tr h="762000">
                <a:tc>
                  <a:txBody>
                    <a:bodyPr>
                      <a:noAutofit/>
                    </a:bodyPr>
                    <a:lstStyle/>
                    <a:p>
                      <a:r>
                        <a:rPr sz="2100" b="0">
                          <a:solidFill>
                            <a:srgbClr val="102B3F"/>
                          </a:solidFill>
                          <a:latin typeface="Helvetica Neue"/>
                          <a:ea typeface="Helvetica Neue"/>
                          <a:cs typeface="Helvetica Neue"/>
                        </a:rPr>
                        <a:t>Layout: Kendall tau-b</a:t>
                      </a:r>
                    </a:p>
                  </a:txBody>
                  <a:tcPr marL="91440" marR="91440" marT="45720" marB="45720">
                    <a:solidFill>
                      <a:srgbClr val="FFFFFF"/>
                    </a:solidFill>
                  </a:tcPr>
                </a:tc>
                <a:tc>
                  <a:txBody>
                    <a:bodyPr>
                      <a:noAutofit/>
                    </a:bodyPr>
                    <a:lstStyle/>
                    <a:p>
                      <a:r>
                        <a:rPr sz="2100" b="0">
                          <a:solidFill>
                            <a:srgbClr val="102B3F"/>
                          </a:solidFill>
                          <a:latin typeface="Helvetica Neue"/>
                          <a:ea typeface="Helvetica Neue"/>
                          <a:cs typeface="Helvetica Neue"/>
                        </a:rPr>
                        <a:t>How well do we order all sampled candidates?</a:t>
                      </a:r>
                    </a:p>
                  </a:txBody>
                  <a:tcPr marL="91440" marR="91440" marT="45720" marB="45720">
                    <a:solidFill>
                      <a:srgbClr val="FFFFFF"/>
                    </a:solidFill>
                  </a:tcPr>
                </a:tc>
              </a:tr>
              <a:tr h="762000">
                <a:tc>
                  <a:txBody>
                    <a:bodyPr>
                      <a:noAutofit/>
                    </a:bodyPr>
                    <a:lstStyle/>
                    <a:p>
                      <a:r>
                        <a:rPr sz="2100" b="0">
                          <a:solidFill>
                            <a:srgbClr val="102B3F"/>
                          </a:solidFill>
                          <a:latin typeface="Helvetica Neue"/>
                          <a:ea typeface="Helvetica Neue"/>
                          <a:cs typeface="Helvetica Neue"/>
                        </a:rPr>
                        <a:t>Tile: top-five regret</a:t>
                      </a:r>
                    </a:p>
                  </a:txBody>
                  <a:tcPr marL="91440" marR="91440" marT="45720" marB="45720">
                    <a:solidFill>
                      <a:srgbClr val="F3F7F9"/>
                    </a:solidFill>
                  </a:tcPr>
                </a:tc>
                <a:tc>
                  <a:txBody>
                    <a:bodyPr>
                      <a:noAutofit/>
                    </a:bodyPr>
                    <a:lstStyle/>
                    <a:p>
                      <a:r>
                        <a:rPr sz="2100" b="0">
                          <a:solidFill>
                            <a:srgbClr val="102B3F"/>
                          </a:solidFill>
                          <a:latin typeface="Helvetica Neue"/>
                          <a:ea typeface="Helvetica Neue"/>
                          <a:cs typeface="Helvetica Neue"/>
                        </a:rPr>
                        <a:t>How close is the best of our top five to the fastest candidate?</a:t>
                      </a:r>
                    </a:p>
                  </a:txBody>
                  <a:tcPr marL="91440" marR="91440" marT="45720" marB="45720">
                    <a:solidFill>
                      <a:srgbClr val="F3F7F9"/>
                    </a:solidFill>
                  </a:tcPr>
                </a:tc>
              </a:tr>
              <a:tr h="762000">
                <a:tc>
                  <a:txBody>
                    <a:bodyPr>
                      <a:noAutofit/>
                    </a:bodyPr>
                    <a:lstStyle/>
                    <a:p>
                      <a:r>
                        <a:rPr sz="2100" b="0">
                          <a:solidFill>
                            <a:srgbClr val="102B3F"/>
                          </a:solidFill>
                          <a:latin typeface="Helvetica Neue"/>
                          <a:ea typeface="Helvetica Neue"/>
                          <a:cs typeface="Helvetica Neue"/>
                        </a:rPr>
                        <a:t>Public Kaggle score</a:t>
                      </a:r>
                    </a:p>
                  </a:txBody>
                  <a:tcPr marL="91440" marR="91440" marT="45720" marB="45720">
                    <a:solidFill>
                      <a:srgbClr val="FFFFFF"/>
                    </a:solidFill>
                  </a:tcPr>
                </a:tc>
                <a:tc>
                  <a:txBody>
                    <a:bodyPr>
                      <a:noAutofit/>
                    </a:bodyPr>
                    <a:lstStyle/>
                    <a:p>
                      <a:r>
                        <a:rPr sz="2100" b="0">
                          <a:solidFill>
                            <a:srgbClr val="102B3F"/>
                          </a:solidFill>
                          <a:latin typeface="Helvetica Neue"/>
                          <a:ea typeface="Helvetica Neue"/>
                          <a:cs typeface="Helvetica Neue"/>
                        </a:rPr>
                        <a:t>How does the submitted system perform on the competition test?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CCF6705-A2D6-43BE-9BC5-19A6A3AAA9AC}"/>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Keep local collection scores separate from the aggregate public score.</a:t>
            </a:r>
          </a:p>
        </p:txBody>
      </p:sp>
    </p:spTree>
    <p:extLst>
      <p:ext uri="{BB962C8B-B14F-4D97-AF65-F5344CB8AC3E}">
        <p14:creationId xmlns:p14="http://schemas.microsoft.com/office/powerpoint/2010/main" val="5044826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0A9F81-C524-44D0-A4E9-23429EF4B46C}"/>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Our baselines</a:t>
            </a:r>
          </a:p>
        </p:txBody>
      </p:sp>
      <p:sp>
        <p:nvSpPr>
          <p:cNvPr id="2" name="">
            <a:extLst xmlns:a="http://schemas.openxmlformats.org/drawingml/2006/main">
              <a:ext uri="{FF2B5EF4-FFF2-40B4-BE49-F238E27FC236}">
                <a16:creationId xmlns:a16="http://schemas.microsoft.com/office/drawing/2014/main" id="{F50958B9-809F-4408-A865-0AF05B47742C}"/>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Each comparison needs an explicit reference.</a:t>
            </a:r>
          </a:p>
        </p:txBody>
      </p:sp>
      <p:sp>
        <p:nvSpPr>
          <p:cNvPr id="3" name="">
            <a:extLst xmlns:a="http://schemas.openxmlformats.org/drawingml/2006/main">
              <a:ext uri="{FF2B5EF4-FFF2-40B4-BE49-F238E27FC236}">
                <a16:creationId xmlns:a16="http://schemas.microsoft.com/office/drawing/2014/main" id="{AC10718F-D4D0-4A53-A3DF-D9CD7487647F}"/>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06</a:t>
            </a:r>
          </a:p>
        </p:txBody>
      </p:sp>
      <p:graphicFrame>
        <p:nvGraphicFramePr>
          <p:cNvPr id="9" name=""/>
          <p:cNvGraphicFramePr/>
          <p:nvPr/>
        </p:nvGraphicFramePr>
        <p:xfrm>
          <a:off xmlns:a="http://schemas.openxmlformats.org/drawingml/2006/main" x="628650" y="2209800"/>
          <a:ext xmlns:a="http://schemas.openxmlformats.org/drawingml/2006/main" cx="10934700" cy="2952750"/>
        </p:xfrm>
        <a:graphic xmlns:a="http://schemas.openxmlformats.org/drawingml/2006/main">
          <a:graphicData uri="http://schemas.openxmlformats.org/drawingml/2006/table">
            <a:tbl>
              <a:tblPr/>
              <a:tblGrid>
                <a:gridCol w="2857500"/>
                <a:gridCol w="4286250"/>
                <a:gridCol w="3790950"/>
              </a:tblGrid>
              <a:tr h="738188">
                <a:tc>
                  <a:txBody>
                    <a:bodyPr>
                      <a:noAutofit/>
                    </a:bodyPr>
                    <a:lstStyle/>
                    <a:p>
                      <a:r>
                        <a:rPr sz="2025" b="1">
                          <a:solidFill>
                            <a:srgbClr val="FFFFFF"/>
                          </a:solidFill>
                          <a:latin typeface="Helvetica Neue"/>
                          <a:ea typeface="Helvetica Neue"/>
                          <a:cs typeface="Helvetica Neue"/>
                        </a:rPr>
                        <a:t>Comparator</a:t>
                      </a:r>
                    </a:p>
                  </a:txBody>
                  <a:tcPr marL="91440" marR="91440" marT="45720" marB="45720">
                    <a:solidFill>
                      <a:srgbClr val="102B3F"/>
                    </a:solidFill>
                  </a:tcPr>
                </a:tc>
                <a:tc>
                  <a:txBody>
                    <a:bodyPr>
                      <a:noAutofit/>
                    </a:bodyPr>
                    <a:lstStyle/>
                    <a:p>
                      <a:r>
                        <a:rPr sz="2025" b="1">
                          <a:solidFill>
                            <a:srgbClr val="FFFFFF"/>
                          </a:solidFill>
                          <a:latin typeface="Helvetica Neue"/>
                          <a:ea typeface="Helvetica Neue"/>
                          <a:cs typeface="Helvetica Neue"/>
                        </a:rPr>
                        <a:t>What it contains</a:t>
                      </a:r>
                    </a:p>
                  </a:txBody>
                  <a:tcPr marL="91440" marR="91440" marT="45720" marB="45720">
                    <a:solidFill>
                      <a:srgbClr val="102B3F"/>
                    </a:solidFill>
                  </a:tcPr>
                </a:tc>
                <a:tc>
                  <a:txBody>
                    <a:bodyPr>
                      <a:noAutofit/>
                    </a:bodyPr>
                    <a:lstStyle/>
                    <a:p>
                      <a:r>
                        <a:rPr sz="2025" b="1">
                          <a:solidFill>
                            <a:srgbClr val="FFFFFF"/>
                          </a:solidFill>
                          <a:latin typeface="Helvetica Neue"/>
                          <a:ea typeface="Helvetica Neue"/>
                          <a:cs typeface="Helvetica Neue"/>
                        </a:rPr>
                        <a:t>What it tests</a:t>
                      </a:r>
                    </a:p>
                  </a:txBody>
                  <a:tcPr marL="91440" marR="91440" marT="45720" marB="45720">
                    <a:solidFill>
                      <a:srgbClr val="102B3F"/>
                    </a:solidFill>
                  </a:tcPr>
                </a:tc>
              </a:tr>
              <a:tr h="738188">
                <a:tc>
                  <a:txBody>
                    <a:bodyPr>
                      <a:noAutofit/>
                    </a:bodyPr>
                    <a:lstStyle/>
                    <a:p>
                      <a:r>
                        <a:rPr sz="2025" b="0">
                          <a:solidFill>
                            <a:srgbClr val="102B3F"/>
                          </a:solidFill>
                          <a:latin typeface="Helvetica Neue"/>
                          <a:ea typeface="Helvetica Neue"/>
                          <a:cs typeface="Helvetica Neue"/>
                        </a:rPr>
                        <a:t>Basic HGB</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Basic summary features</a:t>
                      </a:r>
                    </a:p>
                    <a:p>
                      <a:r>
                        <a:rPr sz="2025" b="0">
                          <a:solidFill>
                            <a:srgbClr val="102B3F"/>
                          </a:solidFill>
                          <a:latin typeface="Helvetica Neue"/>
                          <a:ea typeface="Helvetica Neue"/>
                          <a:cs typeface="Helvetica Neue"/>
                        </a:rPr>
                        <a:t>Histogram gradient boosting</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Whole-system improvement</a:t>
                      </a:r>
                    </a:p>
                  </a:txBody>
                  <a:tcPr marL="91440" marR="91440" marT="45720" marB="45720">
                    <a:solidFill>
                      <a:srgbClr val="FFFFFF"/>
                    </a:solidFill>
                  </a:tcPr>
                </a:tc>
              </a:tr>
              <a:tr h="738188">
                <a:tc>
                  <a:txBody>
                    <a:bodyPr>
                      <a:noAutofit/>
                    </a:bodyPr>
                    <a:lstStyle/>
                    <a:p>
                      <a:r>
                        <a:rPr sz="2025" b="0">
                          <a:solidFill>
                            <a:srgbClr val="102B3F"/>
                          </a:solidFill>
                          <a:latin typeface="Helvetica Neue"/>
                          <a:ea typeface="Helvetica Neue"/>
                          <a:cs typeface="Helvetica Neue"/>
                        </a:rPr>
                        <a:t>Matched-data HGB</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The GNN’s training examples</a:t>
                      </a:r>
                    </a:p>
                    <a:p>
                      <a:r>
                        <a:rPr sz="2025" b="0">
                          <a:solidFill>
                            <a:srgbClr val="102B3F"/>
                          </a:solidFill>
                          <a:latin typeface="Helvetica Neue"/>
                          <a:ea typeface="Helvetica Neue"/>
                          <a:cs typeface="Helvetica Neue"/>
                        </a:rPr>
                        <a:t>Tabular representation</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Model-family comparison</a:t>
                      </a:r>
                    </a:p>
                  </a:txBody>
                  <a:tcPr marL="91440" marR="91440" marT="45720" marB="45720">
                    <a:solidFill>
                      <a:srgbClr val="F3F7F9"/>
                    </a:solidFill>
                  </a:tcPr>
                </a:tc>
              </a:tr>
              <a:tr h="738188">
                <a:tc>
                  <a:txBody>
                    <a:bodyPr>
                      <a:noAutofit/>
                    </a:bodyPr>
                    <a:lstStyle/>
                    <a:p>
                      <a:r>
                        <a:rPr sz="2025" b="0">
                          <a:solidFill>
                            <a:srgbClr val="102B3F"/>
                          </a:solidFill>
                          <a:latin typeface="Helvetica Neue"/>
                          <a:ea typeface="Helvetica Neue"/>
                          <a:cs typeface="Helvetica Neue"/>
                        </a:rPr>
                        <a:t>Reference GraphSAGE</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A fixed graph-learning recipe</a:t>
                      </a:r>
                    </a:p>
                    <a:p>
                      <a:r>
                        <a:rPr sz="2025" b="0">
                          <a:solidFill>
                            <a:srgbClr val="102B3F"/>
                          </a:solidFill>
                          <a:latin typeface="Helvetica Neue"/>
                          <a:ea typeface="Helvetica Neue"/>
                          <a:cs typeface="Helvetica Neue"/>
                        </a:rPr>
                        <a:t>Before tested additions</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Component changes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D68E71F-EC98-48DD-BC8F-BDD309F3B65D}"/>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A gain is meaningful only when we name the baseline and protocol.</a:t>
            </a:r>
          </a:p>
        </p:txBody>
      </p:sp>
    </p:spTree>
    <p:extLst>
      <p:ext uri="{BB962C8B-B14F-4D97-AF65-F5344CB8AC3E}">
        <p14:creationId xmlns:p14="http://schemas.microsoft.com/office/powerpoint/2010/main" val="14166457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7AB665-8416-4835-857D-37D94D11CBE9}"/>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Models and features explored</a:t>
            </a:r>
          </a:p>
        </p:txBody>
      </p:sp>
      <p:sp>
        <p:nvSpPr>
          <p:cNvPr id="2" name="">
            <a:extLst xmlns:a="http://schemas.openxmlformats.org/drawingml/2006/main">
              <a:ext uri="{FF2B5EF4-FFF2-40B4-BE49-F238E27FC236}">
                <a16:creationId xmlns:a16="http://schemas.microsoft.com/office/drawing/2014/main" id="{25B8F797-B3FC-4923-BAF5-37C685E08FE9}"/>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We tested both compact tabular learning and graph learning.</a:t>
            </a:r>
          </a:p>
        </p:txBody>
      </p:sp>
      <p:sp>
        <p:nvSpPr>
          <p:cNvPr id="3" name="">
            <a:extLst xmlns:a="http://schemas.openxmlformats.org/drawingml/2006/main">
              <a:ext uri="{FF2B5EF4-FFF2-40B4-BE49-F238E27FC236}">
                <a16:creationId xmlns:a16="http://schemas.microsoft.com/office/drawing/2014/main" id="{66414980-B5C4-4840-9F30-4D21285F4BE8}"/>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07</a:t>
            </a:r>
          </a:p>
        </p:txBody>
      </p:sp>
      <p:graphicFrame>
        <p:nvGraphicFramePr>
          <p:cNvPr id="9" name=""/>
          <p:cNvGraphicFramePr/>
          <p:nvPr/>
        </p:nvGraphicFramePr>
        <p:xfrm>
          <a:off xmlns:a="http://schemas.openxmlformats.org/drawingml/2006/main" x="628650" y="2076450"/>
          <a:ext xmlns:a="http://schemas.openxmlformats.org/drawingml/2006/main" cx="10934700" cy="3190875"/>
        </p:xfrm>
        <a:graphic xmlns:a="http://schemas.openxmlformats.org/drawingml/2006/main">
          <a:graphicData uri="http://schemas.openxmlformats.org/drawingml/2006/table">
            <a:tbl>
              <a:tblPr/>
              <a:tblGrid>
                <a:gridCol w="2571750"/>
                <a:gridCol w="4429125"/>
                <a:gridCol w="3933825"/>
              </a:tblGrid>
              <a:tr h="797719">
                <a:tc>
                  <a:txBody>
                    <a:bodyPr>
                      <a:noAutofit/>
                    </a:bodyPr>
                    <a:lstStyle/>
                    <a:p>
                      <a:r>
                        <a:rPr sz="1950" b="1">
                          <a:solidFill>
                            <a:srgbClr val="FFFFFF"/>
                          </a:solidFill>
                          <a:latin typeface="Helvetica Neue"/>
                          <a:ea typeface="Helvetica Neue"/>
                          <a:cs typeface="Helvetica Neue"/>
                        </a:rPr>
                        <a:t>Direction</a:t>
                      </a:r>
                    </a:p>
                  </a:txBody>
                  <a:tcPr marL="91440" marR="91440" marT="45720" marB="45720">
                    <a:solidFill>
                      <a:srgbClr val="102B3F"/>
                    </a:solidFill>
                  </a:tcPr>
                </a:tc>
                <a:tc>
                  <a:txBody>
                    <a:bodyPr>
                      <a:noAutofit/>
                    </a:bodyPr>
                    <a:lstStyle/>
                    <a:p>
                      <a:r>
                        <a:rPr sz="1950" b="1">
                          <a:solidFill>
                            <a:srgbClr val="FFFFFF"/>
                          </a:solidFill>
                          <a:latin typeface="Helvetica Neue"/>
                          <a:ea typeface="Helvetica Neue"/>
                          <a:cs typeface="Helvetica Neue"/>
                        </a:rPr>
                        <a:t>Input representation</a:t>
                      </a:r>
                    </a:p>
                  </a:txBody>
                  <a:tcPr marL="91440" marR="91440" marT="45720" marB="45720">
                    <a:solidFill>
                      <a:srgbClr val="102B3F"/>
                    </a:solidFill>
                  </a:tcPr>
                </a:tc>
                <a:tc>
                  <a:txBody>
                    <a:bodyPr>
                      <a:noAutofit/>
                    </a:bodyPr>
                    <a:lstStyle/>
                    <a:p>
                      <a:r>
                        <a:rPr sz="1950" b="1">
                          <a:solidFill>
                            <a:srgbClr val="FFFFFF"/>
                          </a:solidFill>
                          <a:latin typeface="Helvetica Neue"/>
                          <a:ea typeface="Helvetica Neue"/>
                          <a:cs typeface="Helvetica Neue"/>
                        </a:rPr>
                        <a:t>Motivation</a:t>
                      </a:r>
                    </a:p>
                  </a:txBody>
                  <a:tcPr marL="91440" marR="91440" marT="45720" marB="45720">
                    <a:solidFill>
                      <a:srgbClr val="102B3F"/>
                    </a:solidFill>
                  </a:tcPr>
                </a:tc>
              </a:tr>
              <a:tr h="797719">
                <a:tc>
                  <a:txBody>
                    <a:bodyPr>
                      <a:noAutofit/>
                    </a:bodyPr>
                    <a:lstStyle/>
                    <a:p>
                      <a:r>
                        <a:rPr sz="1950" b="0">
                          <a:solidFill>
                            <a:srgbClr val="102B3F"/>
                          </a:solidFill>
                          <a:latin typeface="Helvetica Neue"/>
                          <a:ea typeface="Helvetica Neue"/>
                          <a:cs typeface="Helvetica Neue"/>
                        </a:rPr>
                        <a:t>MLP</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Compact feature vector</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Neural learning without graph messages</a:t>
                      </a:r>
                    </a:p>
                  </a:txBody>
                  <a:tcPr marL="91440" marR="91440" marT="45720" marB="45720">
                    <a:solidFill>
                      <a:srgbClr val="FFFFFF"/>
                    </a:solidFill>
                  </a:tcPr>
                </a:tc>
              </a:tr>
              <a:tr h="797719">
                <a:tc>
                  <a:txBody>
                    <a:bodyPr>
                      <a:noAutofit/>
                    </a:bodyPr>
                    <a:lstStyle/>
                    <a:p>
                      <a:r>
                        <a:rPr sz="1950" b="0">
                          <a:solidFill>
                            <a:srgbClr val="102B3F"/>
                          </a:solidFill>
                          <a:latin typeface="Helvetica Neue"/>
                          <a:ea typeface="Helvetica Neue"/>
                          <a:cs typeface="Helvetica Neue"/>
                        </a:rPr>
                        <a:t>Gradient boosting</a:t>
                      </a:r>
                    </a:p>
                  </a:txBody>
                  <a:tcPr marL="91440" marR="91440" marT="45720" marB="45720">
                    <a:solidFill>
                      <a:srgbClr val="F3F7F9"/>
                    </a:solidFill>
                  </a:tcPr>
                </a:tc>
                <a:tc>
                  <a:txBody>
                    <a:bodyPr>
                      <a:noAutofit/>
                    </a:bodyPr>
                    <a:lstStyle/>
                    <a:p>
                      <a:r>
                        <a:rPr sz="1950" b="0">
                          <a:solidFill>
                            <a:srgbClr val="102B3F"/>
                          </a:solidFill>
                          <a:latin typeface="Helvetica Neue"/>
                          <a:ea typeface="Helvetica Neue"/>
                          <a:cs typeface="Helvetica Neue"/>
                        </a:rPr>
                        <a:t>Configuration statistics and</a:t>
                      </a:r>
                    </a:p>
                    <a:p>
                      <a:r>
                        <a:rPr sz="1950" b="0">
                          <a:solidFill>
                            <a:srgbClr val="102B3F"/>
                          </a:solidFill>
                          <a:latin typeface="Helvetica Neue"/>
                          <a:ea typeface="Helvetica Neue"/>
                          <a:cs typeface="Helvetica Neue"/>
                        </a:rPr>
                        <a:t>operation/topology summaries</a:t>
                      </a:r>
                    </a:p>
                  </a:txBody>
                  <a:tcPr marL="91440" marR="91440" marT="45720" marB="45720">
                    <a:solidFill>
                      <a:srgbClr val="F3F7F9"/>
                    </a:solidFill>
                  </a:tcPr>
                </a:tc>
                <a:tc>
                  <a:txBody>
                    <a:bodyPr>
                      <a:noAutofit/>
                    </a:bodyPr>
                    <a:lstStyle/>
                    <a:p>
                      <a:r>
                        <a:rPr sz="1950" b="0">
                          <a:solidFill>
                            <a:srgbClr val="102B3F"/>
                          </a:solidFill>
                          <a:latin typeface="Helvetica Neue"/>
                          <a:ea typeface="Helvetica Neue"/>
                          <a:cs typeface="Helvetica Neue"/>
                        </a:rPr>
                        <a:t>Learn nonlinear feature interactions</a:t>
                      </a:r>
                    </a:p>
                  </a:txBody>
                  <a:tcPr marL="91440" marR="91440" marT="45720" marB="45720">
                    <a:solidFill>
                      <a:srgbClr val="F3F7F9"/>
                    </a:solidFill>
                  </a:tcPr>
                </a:tc>
              </a:tr>
              <a:tr h="797719">
                <a:tc>
                  <a:txBody>
                    <a:bodyPr>
                      <a:noAutofit/>
                    </a:bodyPr>
                    <a:lstStyle/>
                    <a:p>
                      <a:r>
                        <a:rPr sz="1950" b="0">
                          <a:solidFill>
                            <a:srgbClr val="102B3F"/>
                          </a:solidFill>
                          <a:latin typeface="Helvetica Neue"/>
                          <a:ea typeface="Helvetica Neue"/>
                          <a:cs typeface="Helvetica Neue"/>
                        </a:rPr>
                        <a:t>GraphSAGE</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Sampled graph, opcode and</a:t>
                      </a:r>
                    </a:p>
                    <a:p>
                      <a:r>
                        <a:rPr sz="1950" b="0">
                          <a:solidFill>
                            <a:srgbClr val="102B3F"/>
                          </a:solidFill>
                          <a:latin typeface="Helvetica Neue"/>
                          <a:ea typeface="Helvetica Neue"/>
                          <a:cs typeface="Helvetica Neue"/>
                        </a:rPr>
                        <a:t>configuration features</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Learn interactions between neighbours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87F3EFA-3769-4F5D-B349-863F03ABFFF8}"/>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Earlier MLP results use a different protocol from the later controlled studies.</a:t>
            </a:r>
          </a:p>
        </p:txBody>
      </p:sp>
    </p:spTree>
    <p:extLst>
      <p:ext uri="{BB962C8B-B14F-4D97-AF65-F5344CB8AC3E}">
        <p14:creationId xmlns:p14="http://schemas.microsoft.com/office/powerpoint/2010/main" val="2908581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83D2EE-C43F-438E-9355-228688DD95FB}"/>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How we compared experiments</a:t>
            </a:r>
          </a:p>
        </p:txBody>
      </p:sp>
      <p:sp>
        <p:nvSpPr>
          <p:cNvPr id="2" name="">
            <a:extLst xmlns:a="http://schemas.openxmlformats.org/drawingml/2006/main">
              <a:ext uri="{FF2B5EF4-FFF2-40B4-BE49-F238E27FC236}">
                <a16:creationId xmlns:a16="http://schemas.microsoft.com/office/drawing/2014/main" id="{40F5D329-5D45-47A8-BC25-35F51CE5B34A}"/>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Selection and evaluation have separate roles.</a:t>
            </a:r>
          </a:p>
        </p:txBody>
      </p:sp>
      <p:sp>
        <p:nvSpPr>
          <p:cNvPr id="3" name="">
            <a:extLst xmlns:a="http://schemas.openxmlformats.org/drawingml/2006/main">
              <a:ext uri="{FF2B5EF4-FFF2-40B4-BE49-F238E27FC236}">
                <a16:creationId xmlns:a16="http://schemas.microsoft.com/office/drawing/2014/main" id="{13C32BDE-4BB3-47E0-98E8-214E3709F965}"/>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08</a:t>
            </a:r>
          </a:p>
        </p:txBody>
      </p:sp>
      <p:graphicFrame>
        <p:nvGraphicFramePr>
          <p:cNvPr id="10" name=""/>
          <p:cNvGraphicFramePr/>
          <p:nvPr/>
        </p:nvGraphicFramePr>
        <p:xfrm>
          <a:off xmlns:a="http://schemas.openxmlformats.org/drawingml/2006/main" x="628650" y="2190750"/>
          <a:ext xmlns:a="http://schemas.openxmlformats.org/drawingml/2006/main" cx="10934700" cy="2714625"/>
        </p:xfrm>
        <a:graphic xmlns:a="http://schemas.openxmlformats.org/drawingml/2006/main">
          <a:graphicData uri="http://schemas.openxmlformats.org/drawingml/2006/table">
            <a:tbl>
              <a:tblPr/>
              <a:tblGrid>
                <a:gridCol w="2571750"/>
                <a:gridCol w="4191000"/>
                <a:gridCol w="4171950"/>
              </a:tblGrid>
              <a:tr h="678656">
                <a:tc>
                  <a:txBody>
                    <a:bodyPr>
                      <a:noAutofit/>
                    </a:bodyPr>
                    <a:lstStyle/>
                    <a:p>
                      <a:r>
                        <a:rPr sz="2025" b="1">
                          <a:solidFill>
                            <a:srgbClr val="FFFFFF"/>
                          </a:solidFill>
                          <a:latin typeface="Helvetica Neue"/>
                          <a:ea typeface="Helvetica Neue"/>
                          <a:cs typeface="Helvetica Neue"/>
                        </a:rPr>
                        <a:t>Stage</a:t>
                      </a:r>
                    </a:p>
                  </a:txBody>
                  <a:tcPr marL="91440" marR="91440" marT="45720" marB="45720">
                    <a:solidFill>
                      <a:srgbClr val="102B3F"/>
                    </a:solidFill>
                  </a:tcPr>
                </a:tc>
                <a:tc>
                  <a:txBody>
                    <a:bodyPr>
                      <a:noAutofit/>
                    </a:bodyPr>
                    <a:lstStyle/>
                    <a:p>
                      <a:r>
                        <a:rPr sz="2025" b="1">
                          <a:solidFill>
                            <a:srgbClr val="FFFFFF"/>
                          </a:solidFill>
                          <a:latin typeface="Helvetica Neue"/>
                          <a:ea typeface="Helvetica Neue"/>
                          <a:cs typeface="Helvetica Neue"/>
                        </a:rPr>
                        <a:t>Design</a:t>
                      </a:r>
                    </a:p>
                  </a:txBody>
                  <a:tcPr marL="91440" marR="91440" marT="45720" marB="45720">
                    <a:solidFill>
                      <a:srgbClr val="102B3F"/>
                    </a:solidFill>
                  </a:tcPr>
                </a:tc>
                <a:tc>
                  <a:txBody>
                    <a:bodyPr>
                      <a:noAutofit/>
                    </a:bodyPr>
                    <a:lstStyle/>
                    <a:p>
                      <a:r>
                        <a:rPr sz="2025" b="1">
                          <a:solidFill>
                            <a:srgbClr val="FFFFFF"/>
                          </a:solidFill>
                          <a:latin typeface="Helvetica Neue"/>
                          <a:ea typeface="Helvetica Neue"/>
                          <a:cs typeface="Helvetica Neue"/>
                        </a:rPr>
                        <a:t>Purpose</a:t>
                      </a:r>
                    </a:p>
                  </a:txBody>
                  <a:tcPr marL="91440" marR="91440" marT="45720" marB="45720">
                    <a:solidFill>
                      <a:srgbClr val="102B3F"/>
                    </a:solidFill>
                  </a:tcPr>
                </a:tc>
              </a:tr>
              <a:tr h="678656">
                <a:tc>
                  <a:txBody>
                    <a:bodyPr>
                      <a:noAutofit/>
                    </a:bodyPr>
                    <a:lstStyle/>
                    <a:p>
                      <a:r>
                        <a:rPr sz="2025" b="0">
                          <a:solidFill>
                            <a:srgbClr val="102B3F"/>
                          </a:solidFill>
                          <a:latin typeface="Helvetica Neue"/>
                          <a:ea typeface="Helvetica Neue"/>
                          <a:cs typeface="Helvetica Neue"/>
                        </a:rPr>
                        <a:t>Development</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Two graph-level folds</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Screen alternatives and choose blends</a:t>
                      </a:r>
                    </a:p>
                  </a:txBody>
                  <a:tcPr marL="91440" marR="91440" marT="45720" marB="45720">
                    <a:solidFill>
                      <a:srgbClr val="FFFFFF"/>
                    </a:solidFill>
                  </a:tcPr>
                </a:tc>
              </a:tr>
              <a:tr h="678656">
                <a:tc>
                  <a:txBody>
                    <a:bodyPr>
                      <a:noAutofit/>
                    </a:bodyPr>
                    <a:lstStyle/>
                    <a:p>
                      <a:r>
                        <a:rPr sz="2025" b="0">
                          <a:solidFill>
                            <a:srgbClr val="102B3F"/>
                          </a:solidFill>
                          <a:latin typeface="Helvetica Neue"/>
                          <a:ea typeface="Helvetica Neue"/>
                          <a:cs typeface="Helvetica Neue"/>
                        </a:rPr>
                        <a:t>Confirmation</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Three seeds for promoted recipes</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Check repeatability across initializations</a:t>
                      </a:r>
                    </a:p>
                  </a:txBody>
                  <a:tcPr marL="91440" marR="91440" marT="45720" marB="45720">
                    <a:solidFill>
                      <a:srgbClr val="F3F7F9"/>
                    </a:solidFill>
                  </a:tcPr>
                </a:tc>
              </a:tr>
              <a:tr h="678656">
                <a:tc>
                  <a:txBody>
                    <a:bodyPr>
                      <a:noAutofit/>
                    </a:bodyPr>
                    <a:lstStyle/>
                    <a:p>
                      <a:r>
                        <a:rPr sz="2025" b="0">
                          <a:solidFill>
                            <a:srgbClr val="102B3F"/>
                          </a:solidFill>
                          <a:latin typeface="Helvetica Neue"/>
                          <a:ea typeface="Helvetica Neue"/>
                          <a:cs typeface="Helvetica Neue"/>
                        </a:rPr>
                        <a:t>Reused audit</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Previously inspected validation graphs</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Describe final behaviour and uncertainty</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3A14FB-99A3-4EBA-B1E4-5462D81A05D0}"/>
              </a:ext>
            </a:extLst>
          </p:cNvPr>
          <p:cNvSpPr>
            <a:spLocks xmlns:a="http://schemas.openxmlformats.org/drawingml/2006/main" noGrp="1"/>
          </p:cNvSpPr>
          <p:nvPr/>
        </p:nvSpPr>
        <p:spPr>
          <a:xfrm xmlns:a="http://schemas.openxmlformats.org/drawingml/2006/main">
            <a:off x="666750" y="51625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Small audit sets: 7 graphs per XLA layout collection, 20 per NLP collection.</a:t>
            </a:r>
          </a:p>
        </p:txBody>
      </p:sp>
      <p:sp>
        <p:nvSpPr>
          <p:cNvPr id="6" name="">
            <a:extLst xmlns:a="http://schemas.openxmlformats.org/drawingml/2006/main">
              <a:ext uri="{FF2B5EF4-FFF2-40B4-BE49-F238E27FC236}">
                <a16:creationId xmlns:a16="http://schemas.microsoft.com/office/drawing/2014/main" id="{B45BB0A3-0B8E-4805-B601-33BB3D1C9F26}"/>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Audit results are supporting evidence, not a fresh untouched test.</a:t>
            </a:r>
          </a:p>
        </p:txBody>
      </p:sp>
    </p:spTree>
    <p:extLst>
      <p:ext uri="{BB962C8B-B14F-4D97-AF65-F5344CB8AC3E}">
        <p14:creationId xmlns:p14="http://schemas.microsoft.com/office/powerpoint/2010/main" val="8135441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AFAA6C-5680-47A1-87CC-9FD756BDCC68}"/>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Do masks, context and messages help?</a:t>
            </a:r>
          </a:p>
        </p:txBody>
      </p:sp>
      <p:sp>
        <p:nvSpPr>
          <p:cNvPr id="2" name="">
            <a:extLst xmlns:a="http://schemas.openxmlformats.org/drawingml/2006/main">
              <a:ext uri="{FF2B5EF4-FFF2-40B4-BE49-F238E27FC236}">
                <a16:creationId xmlns:a16="http://schemas.microsoft.com/office/drawing/2014/main" id="{81DDB412-3E83-4970-B1C9-3E64909236D3}"/>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Confirmed development comparisons: change in mean Kendall tau, with bootstrap intervals.</a:t>
            </a:r>
          </a:p>
        </p:txBody>
      </p:sp>
      <p:sp>
        <p:nvSpPr>
          <p:cNvPr id="3" name="">
            <a:extLst xmlns:a="http://schemas.openxmlformats.org/drawingml/2006/main">
              <a:ext uri="{FF2B5EF4-FFF2-40B4-BE49-F238E27FC236}">
                <a16:creationId xmlns:a16="http://schemas.microsoft.com/office/drawing/2014/main" id="{2D6262F8-5BD5-4F7D-B8F0-4011966E5F11}"/>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09</a:t>
            </a:r>
          </a:p>
        </p:txBody>
      </p:sp>
      <p:graphicFrame>
        <p:nvGraphicFramePr>
          <p:cNvPr id="9" name=""/>
          <p:cNvGraphicFramePr/>
          <p:nvPr/>
        </p:nvGraphicFramePr>
        <p:xfrm>
          <a:off xmlns:a="http://schemas.openxmlformats.org/drawingml/2006/main" x="628650" y="2038350"/>
          <a:ext xmlns:a="http://schemas.openxmlformats.org/drawingml/2006/main" cx="10934700" cy="3333750"/>
        </p:xfrm>
        <a:graphic xmlns:a="http://schemas.openxmlformats.org/drawingml/2006/main">
          <a:graphicData uri="http://schemas.openxmlformats.org/drawingml/2006/table">
            <a:tbl>
              <a:tblPr/>
              <a:tblGrid>
                <a:gridCol w="3714750"/>
                <a:gridCol w="3609975"/>
                <a:gridCol w="3609975"/>
              </a:tblGrid>
              <a:tr h="666750">
                <a:tc>
                  <a:txBody>
                    <a:bodyPr>
                      <a:noAutofit/>
                    </a:bodyPr>
                    <a:lstStyle/>
                    <a:p>
                      <a:r>
                        <a:rPr sz="1875" b="1">
                          <a:solidFill>
                            <a:srgbClr val="FFFFFF"/>
                          </a:solidFill>
                          <a:latin typeface="Helvetica Neue"/>
                          <a:ea typeface="Helvetica Neue"/>
                          <a:cs typeface="Helvetica Neue"/>
                        </a:rPr>
                        <a:t>Change</a:t>
                      </a:r>
                    </a:p>
                  </a:txBody>
                  <a:tcPr marL="91440" marR="91440" marT="45720" marB="45720">
                    <a:solidFill>
                      <a:srgbClr val="102B3F"/>
                    </a:solidFill>
                  </a:tcPr>
                </a:tc>
                <a:tc>
                  <a:txBody>
                    <a:bodyPr>
                      <a:noAutofit/>
                    </a:bodyPr>
                    <a:lstStyle/>
                    <a:p>
                      <a:r>
                        <a:rPr sz="1875" b="1">
                          <a:solidFill>
                            <a:srgbClr val="FFFFFF"/>
                          </a:solidFill>
                          <a:latin typeface="Helvetica Neue"/>
                          <a:ea typeface="Helvetica Neue"/>
                          <a:cs typeface="Helvetica Neue"/>
                        </a:rPr>
                        <a:t>XLA default</a:t>
                      </a:r>
                    </a:p>
                  </a:txBody>
                  <a:tcPr marL="91440" marR="91440" marT="45720" marB="45720">
                    <a:solidFill>
                      <a:srgbClr val="102B3F"/>
                    </a:solidFill>
                  </a:tcPr>
                </a:tc>
                <a:tc>
                  <a:txBody>
                    <a:bodyPr>
                      <a:noAutofit/>
                    </a:bodyPr>
                    <a:lstStyle/>
                    <a:p>
                      <a:r>
                        <a:rPr sz="1875" b="1">
                          <a:solidFill>
                            <a:srgbClr val="FFFFFF"/>
                          </a:solidFill>
                          <a:latin typeface="Helvetica Neue"/>
                          <a:ea typeface="Helvetica Neue"/>
                          <a:cs typeface="Helvetica Neue"/>
                        </a:rPr>
                        <a:t>XLA random</a:t>
                      </a:r>
                    </a:p>
                  </a:txBody>
                  <a:tcPr marL="91440" marR="91440" marT="45720" marB="45720">
                    <a:solidFill>
                      <a:srgbClr val="102B3F"/>
                    </a:solidFill>
                  </a:tcPr>
                </a:tc>
              </a:tr>
              <a:tr h="666750">
                <a:tc>
                  <a:txBody>
                    <a:bodyPr>
                      <a:noAutofit/>
                    </a:bodyPr>
                    <a:lstStyle/>
                    <a:p>
                      <a:r>
                        <a:rPr sz="1875" b="0">
                          <a:solidFill>
                            <a:srgbClr val="102B3F"/>
                          </a:solidFill>
                          <a:latin typeface="Helvetica Neue"/>
                          <a:ea typeface="Helvetica Neue"/>
                          <a:cs typeface="Helvetica Neue"/>
                        </a:rPr>
                        <a:t>Add masks</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−0.0003</a:t>
                      </a:r>
                    </a:p>
                    <a:p>
                      <a:r>
                        <a:rPr sz="1875" b="0">
                          <a:solidFill>
                            <a:srgbClr val="102B3F"/>
                          </a:solidFill>
                          <a:latin typeface="Helvetica Neue"/>
                          <a:ea typeface="Helvetica Neue"/>
                          <a:cs typeface="Helvetica Neue"/>
                        </a:rPr>
                        <a:t>[−0.0325, +0.0313]</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−0.0019</a:t>
                      </a:r>
                    </a:p>
                    <a:p>
                      <a:r>
                        <a:rPr sz="1875" b="0">
                          <a:solidFill>
                            <a:srgbClr val="102B3F"/>
                          </a:solidFill>
                          <a:latin typeface="Helvetica Neue"/>
                          <a:ea typeface="Helvetica Neue"/>
                          <a:cs typeface="Helvetica Neue"/>
                        </a:rPr>
                        <a:t>[−0.0524, +0.0407]</a:t>
                      </a:r>
                    </a:p>
                  </a:txBody>
                  <a:tcPr marL="91440" marR="91440" marT="45720" marB="45720">
                    <a:solidFill>
                      <a:srgbClr val="FFFFFF"/>
                    </a:solidFill>
                  </a:tcPr>
                </a:tc>
              </a:tr>
              <a:tr h="666750">
                <a:tc>
                  <a:txBody>
                    <a:bodyPr>
                      <a:noAutofit/>
                    </a:bodyPr>
                    <a:lstStyle/>
                    <a:p>
                      <a:r>
                        <a:rPr sz="1875" b="0">
                          <a:solidFill>
                            <a:srgbClr val="102B3F"/>
                          </a:solidFill>
                          <a:latin typeface="Helvetica Neue"/>
                          <a:ea typeface="Helvetica Neue"/>
                          <a:cs typeface="Helvetica Neue"/>
                        </a:rPr>
                        <a:t>Add context</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−0.0227</a:t>
                      </a:r>
                    </a:p>
                    <a:p>
                      <a:r>
                        <a:rPr sz="1875" b="0">
                          <a:solidFill>
                            <a:srgbClr val="102B3F"/>
                          </a:solidFill>
                          <a:latin typeface="Helvetica Neue"/>
                          <a:ea typeface="Helvetica Neue"/>
                          <a:cs typeface="Helvetica Neue"/>
                        </a:rPr>
                        <a:t>[−0.0790, +0.0294]</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−0.0239</a:t>
                      </a:r>
                    </a:p>
                    <a:p>
                      <a:r>
                        <a:rPr sz="1875" b="0">
                          <a:solidFill>
                            <a:srgbClr val="102B3F"/>
                          </a:solidFill>
                          <a:latin typeface="Helvetica Neue"/>
                          <a:ea typeface="Helvetica Neue"/>
                          <a:cs typeface="Helvetica Neue"/>
                        </a:rPr>
                        <a:t>[−0.0737, +0.0218]</a:t>
                      </a:r>
                    </a:p>
                  </a:txBody>
                  <a:tcPr marL="91440" marR="91440" marT="45720" marB="45720">
                    <a:solidFill>
                      <a:srgbClr val="F3F7F9"/>
                    </a:solidFill>
                  </a:tcPr>
                </a:tc>
              </a:tr>
              <a:tr h="666750">
                <a:tc>
                  <a:txBody>
                    <a:bodyPr>
                      <a:noAutofit/>
                    </a:bodyPr>
                    <a:lstStyle/>
                    <a:p>
                      <a:r>
                        <a:rPr sz="1875" b="0">
                          <a:solidFill>
                            <a:srgbClr val="102B3F"/>
                          </a:solidFill>
                          <a:latin typeface="Helvetica Neue"/>
                          <a:ea typeface="Helvetica Neue"/>
                          <a:cs typeface="Helvetica Neue"/>
                        </a:rPr>
                        <a:t>Add masks + context</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−0.0068</a:t>
                      </a:r>
                    </a:p>
                    <a:p>
                      <a:r>
                        <a:rPr sz="1875" b="0">
                          <a:solidFill>
                            <a:srgbClr val="102B3F"/>
                          </a:solidFill>
                          <a:latin typeface="Helvetica Neue"/>
                          <a:ea typeface="Helvetica Neue"/>
                          <a:cs typeface="Helvetica Neue"/>
                        </a:rPr>
                        <a:t>[−0.0465, +0.0355]</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−0.0196</a:t>
                      </a:r>
                    </a:p>
                    <a:p>
                      <a:r>
                        <a:rPr sz="1875" b="0">
                          <a:solidFill>
                            <a:srgbClr val="102B3F"/>
                          </a:solidFill>
                          <a:latin typeface="Helvetica Neue"/>
                          <a:ea typeface="Helvetica Neue"/>
                          <a:cs typeface="Helvetica Neue"/>
                        </a:rPr>
                        <a:t>[−0.0591, +0.0224]</a:t>
                      </a:r>
                    </a:p>
                  </a:txBody>
                  <a:tcPr marL="91440" marR="91440" marT="45720" marB="45720">
                    <a:solidFill>
                      <a:srgbClr val="FFFFFF"/>
                    </a:solidFill>
                  </a:tcPr>
                </a:tc>
              </a:tr>
              <a:tr h="666750">
                <a:tc>
                  <a:txBody>
                    <a:bodyPr>
                      <a:noAutofit/>
                    </a:bodyPr>
                    <a:lstStyle/>
                    <a:p>
                      <a:r>
                        <a:rPr sz="1875" b="0">
                          <a:solidFill>
                            <a:srgbClr val="102B3F"/>
                          </a:solidFill>
                          <a:latin typeface="Helvetica Neue"/>
                          <a:ea typeface="Helvetica Neue"/>
                          <a:cs typeface="Helvetica Neue"/>
                        </a:rPr>
                        <a:t>Retain message passing</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+0.0153</a:t>
                      </a:r>
                    </a:p>
                    <a:p>
                      <a:r>
                        <a:rPr sz="1875" b="0">
                          <a:solidFill>
                            <a:srgbClr val="102B3F"/>
                          </a:solidFill>
                          <a:latin typeface="Helvetica Neue"/>
                          <a:ea typeface="Helvetica Neue"/>
                          <a:cs typeface="Helvetica Neue"/>
                        </a:rPr>
                        <a:t>[−0.0112, +0.0457]</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+0.0088</a:t>
                      </a:r>
                    </a:p>
                    <a:p>
                      <a:r>
                        <a:rPr sz="1875" b="0">
                          <a:solidFill>
                            <a:srgbClr val="102B3F"/>
                          </a:solidFill>
                          <a:latin typeface="Helvetica Neue"/>
                          <a:ea typeface="Helvetica Neue"/>
                          <a:cs typeface="Helvetica Neue"/>
                        </a:rPr>
                        <a:t>[−0.0137, +0.0334]</a:t>
                      </a:r>
                    </a:p>
                  </a:txBody>
                  <a:tcPr marL="91440" marR="91440" marT="45720" marB="45720">
                    <a:solidFill>
                      <a:srgbClr val="F3F7F9"/>
                    </a:solidFill>
                  </a:tcPr>
                </a:tc>
              </a:tr>
            </a:tbl>
          </a:graphicData>
        </a:graphic>
      </p:graphicFrame>
      <p:sp>
        <p:nvSpPr>
          <p:cNvPr id="5" name="">
            <a:extLst xmlns:a="http://schemas.openxmlformats.org/drawingml/2006/main">
              <a:ext uri="{FF2B5EF4-FFF2-40B4-BE49-F238E27FC236}">
                <a16:creationId xmlns:a16="http://schemas.microsoft.com/office/drawing/2014/main" id="{1121C2B3-26C1-4414-AB0C-A0883AE1BB50}"/>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Every displayed interval crosses zero. Standalone benefits remain inconclusive.</a:t>
            </a:r>
          </a:p>
        </p:txBody>
      </p:sp>
    </p:spTree>
    <p:extLst>
      <p:ext uri="{BB962C8B-B14F-4D97-AF65-F5344CB8AC3E}">
        <p14:creationId xmlns:p14="http://schemas.microsoft.com/office/powerpoint/2010/main" val="12146359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3F506C-36B2-4CEF-96EE-7A24635F84E2}"/>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Does retaining more of the graph help?</a:t>
            </a:r>
          </a:p>
        </p:txBody>
      </p:sp>
      <p:sp>
        <p:nvSpPr>
          <p:cNvPr id="2" name="">
            <a:extLst xmlns:a="http://schemas.openxmlformats.org/drawingml/2006/main">
              <a:ext uri="{FF2B5EF4-FFF2-40B4-BE49-F238E27FC236}">
                <a16:creationId xmlns:a16="http://schemas.microsoft.com/office/drawing/2014/main" id="{24D0EF2F-2606-412D-B2E1-2FCEDD39A52A}"/>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XLA random: increase the sampled node budget while keeping the training budget fixed.</a:t>
            </a:r>
          </a:p>
        </p:txBody>
      </p:sp>
      <p:sp>
        <p:nvSpPr>
          <p:cNvPr id="3" name="">
            <a:extLst xmlns:a="http://schemas.openxmlformats.org/drawingml/2006/main">
              <a:ext uri="{FF2B5EF4-FFF2-40B4-BE49-F238E27FC236}">
                <a16:creationId xmlns:a16="http://schemas.microsoft.com/office/drawing/2014/main" id="{EB9E4C8D-E73B-4EFF-A4C8-9D5ECBCFC3C1}"/>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10</a:t>
            </a:r>
          </a:p>
        </p:txBody>
      </p:sp>
      <p:graphicFrame>
        <p:nvGraphicFramePr>
          <p:cNvPr id="9" name="Chart"/>
          <p:cNvGraphicFramePr/>
          <p:nvPr/>
        </p:nvGraphicFramePr>
        <p:xfrm>
          <a:off xmlns:a="http://schemas.openxmlformats.org/drawingml/2006/main" x="666750" y="2095500"/>
          <a:ext xmlns:a="http://schemas.openxmlformats.org/drawingml/2006/main" cx="10572750" cy="3333750"/>
        </p:xfrm>
        <a:graphic xmlns:a="http://schemas.openxmlformats.org/drawingml/2006/main">
          <a:graphicData uri="http://schemas.openxmlformats.org/drawingml/2006/chart">
            <c:chart xmlns:r="http://schemas.openxmlformats.org/officeDocument/2006/relationships" xmlns:c="http://schemas.openxmlformats.org/drawingml/2006/chart" r:id="Reab73793cb3b48f3"/>
          </a:graphicData>
        </a:graphic>
      </p:graphicFrame>
      <p:sp>
        <p:nvSpPr>
          <p:cNvPr id="5" name="">
            <a:extLst xmlns:a="http://schemas.openxmlformats.org/drawingml/2006/main">
              <a:ext uri="{FF2B5EF4-FFF2-40B4-BE49-F238E27FC236}">
                <a16:creationId xmlns:a16="http://schemas.microsoft.com/office/drawing/2014/main" id="{95C79628-722E-4B02-A321-7E188C998B53}"/>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More retained nodes did not consistently improve the ranking.</a:t>
            </a:r>
          </a:p>
        </p:txBody>
      </p:sp>
    </p:spTree>
    <p:extLst>
      <p:ext uri="{BB962C8B-B14F-4D97-AF65-F5344CB8AC3E}">
        <p14:creationId xmlns:p14="http://schemas.microsoft.com/office/powerpoint/2010/main" val="17563161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86F99E-5AA6-4215-9848-F820DF311E07}"/>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Does more training data help?</a:t>
            </a:r>
          </a:p>
        </p:txBody>
      </p:sp>
      <p:sp>
        <p:nvSpPr>
          <p:cNvPr id="2" name="">
            <a:extLst xmlns:a="http://schemas.openxmlformats.org/drawingml/2006/main">
              <a:ext uri="{FF2B5EF4-FFF2-40B4-BE49-F238E27FC236}">
                <a16:creationId xmlns:a16="http://schemas.microsoft.com/office/drawing/2014/main" id="{FDBA8BFA-E105-4E1E-B813-8D792D43592F}"/>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XLA random: vary training graphs and configurations per graph separately.</a:t>
            </a:r>
          </a:p>
        </p:txBody>
      </p:sp>
      <p:sp>
        <p:nvSpPr>
          <p:cNvPr id="3" name="">
            <a:extLst xmlns:a="http://schemas.openxmlformats.org/drawingml/2006/main">
              <a:ext uri="{FF2B5EF4-FFF2-40B4-BE49-F238E27FC236}">
                <a16:creationId xmlns:a16="http://schemas.microsoft.com/office/drawing/2014/main" id="{E3C79910-C56A-4B61-B422-551BF4BF1799}"/>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11</a:t>
            </a:r>
          </a:p>
        </p:txBody>
      </p:sp>
      <p:graphicFrame>
        <p:nvGraphicFramePr>
          <p:cNvPr id="9" name="Chart"/>
          <p:cNvGraphicFramePr/>
          <p:nvPr/>
        </p:nvGraphicFramePr>
        <p:xfrm>
          <a:off xmlns:a="http://schemas.openxmlformats.org/drawingml/2006/main" x="666750" y="2095500"/>
          <a:ext xmlns:a="http://schemas.openxmlformats.org/drawingml/2006/main" cx="10572750" cy="3333750"/>
        </p:xfrm>
        <a:graphic xmlns:a="http://schemas.openxmlformats.org/drawingml/2006/main">
          <a:graphicData uri="http://schemas.openxmlformats.org/drawingml/2006/chart">
            <c:chart xmlns:r="http://schemas.openxmlformats.org/officeDocument/2006/relationships" xmlns:c="http://schemas.openxmlformats.org/drawingml/2006/chart" r:id="Ra9517a81185f446b"/>
          </a:graphicData>
        </a:graphic>
      </p:graphicFrame>
      <p:sp>
        <p:nvSpPr>
          <p:cNvPr id="5" name="">
            <a:extLst xmlns:a="http://schemas.openxmlformats.org/drawingml/2006/main">
              <a:ext uri="{FF2B5EF4-FFF2-40B4-BE49-F238E27FC236}">
                <a16:creationId xmlns:a16="http://schemas.microsoft.com/office/drawing/2014/main" id="{D58C162E-6D0C-4D09-AA21-AEF17F516782}"/>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The effect depends on the sampling budget. More data is not a universal gain.</a:t>
            </a:r>
          </a:p>
        </p:txBody>
      </p:sp>
    </p:spTree>
    <p:extLst>
      <p:ext uri="{BB962C8B-B14F-4D97-AF65-F5344CB8AC3E}">
        <p14:creationId xmlns:p14="http://schemas.microsoft.com/office/powerpoint/2010/main" val="15952478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63AAE94-DD49-4C59-B361-2F302DFC4BE4}"/>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Predicting relative position instead of runtime</a:t>
            </a:r>
          </a:p>
        </p:txBody>
      </p:sp>
      <p:sp>
        <p:nvSpPr>
          <p:cNvPr id="2" name="">
            <a:extLst xmlns:a="http://schemas.openxmlformats.org/drawingml/2006/main">
              <a:ext uri="{FF2B5EF4-FFF2-40B4-BE49-F238E27FC236}">
                <a16:creationId xmlns:a16="http://schemas.microsoft.com/office/drawing/2014/main" id="{BD6A4B42-506A-4A4E-BE2A-A3EE5D5730B6}"/>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Same HGB learner and training examples. Change the target from log-runtime to percentile.</a:t>
            </a:r>
          </a:p>
        </p:txBody>
      </p:sp>
      <p:sp>
        <p:nvSpPr>
          <p:cNvPr id="3" name="">
            <a:extLst xmlns:a="http://schemas.openxmlformats.org/drawingml/2006/main">
              <a:ext uri="{FF2B5EF4-FFF2-40B4-BE49-F238E27FC236}">
                <a16:creationId xmlns:a16="http://schemas.microsoft.com/office/drawing/2014/main" id="{40DF7FE0-1DD2-40D2-91DD-D36BC0F8FFDB}"/>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12</a:t>
            </a:r>
          </a:p>
        </p:txBody>
      </p:sp>
      <p:graphicFrame>
        <p:nvGraphicFramePr>
          <p:cNvPr id="9" name="Chart"/>
          <p:cNvGraphicFramePr/>
          <p:nvPr/>
        </p:nvGraphicFramePr>
        <p:xfrm>
          <a:off xmlns:a="http://schemas.openxmlformats.org/drawingml/2006/main" x="666750" y="2190750"/>
          <a:ext xmlns:a="http://schemas.openxmlformats.org/drawingml/2006/main" cx="10572750" cy="3190875"/>
        </p:xfrm>
        <a:graphic xmlns:a="http://schemas.openxmlformats.org/drawingml/2006/main">
          <a:graphicData uri="http://schemas.openxmlformats.org/drawingml/2006/chart">
            <c:chart xmlns:r="http://schemas.openxmlformats.org/officeDocument/2006/relationships" xmlns:c="http://schemas.openxmlformats.org/drawingml/2006/chart" r:id="Rbc78132ef05c45e9"/>
          </a:graphicData>
        </a:graphic>
      </p:graphicFrame>
      <p:sp>
        <p:nvSpPr>
          <p:cNvPr id="5" name="">
            <a:extLst xmlns:a="http://schemas.openxmlformats.org/drawingml/2006/main">
              <a:ext uri="{FF2B5EF4-FFF2-40B4-BE49-F238E27FC236}">
                <a16:creationId xmlns:a16="http://schemas.microsoft.com/office/drawing/2014/main" id="{35B62F44-48B4-48D7-9193-F35011200E05}"/>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NLP default improved in both screening folds. Percentile models later entered three blends.</a:t>
            </a:r>
          </a:p>
        </p:txBody>
      </p:sp>
    </p:spTree>
    <p:extLst>
      <p:ext uri="{BB962C8B-B14F-4D97-AF65-F5344CB8AC3E}">
        <p14:creationId xmlns:p14="http://schemas.microsoft.com/office/powerpoint/2010/main" val="120258249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F3296E-3DE0-4B2F-A43E-4C1833841B63}"/>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Learning which configuration is faster</a:t>
            </a:r>
          </a:p>
        </p:txBody>
      </p:sp>
      <p:sp>
        <p:nvSpPr>
          <p:cNvPr id="2" name="">
            <a:extLst xmlns:a="http://schemas.openxmlformats.org/drawingml/2006/main">
              <a:ext uri="{FF2B5EF4-FFF2-40B4-BE49-F238E27FC236}">
                <a16:creationId xmlns:a16="http://schemas.microsoft.com/office/drawing/2014/main" id="{3EA7C2B7-363F-44C9-9076-FB7289169556}"/>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Same XGBoost capacity and examples. Regression versus grouped pairwise ranking.</a:t>
            </a:r>
          </a:p>
        </p:txBody>
      </p:sp>
      <p:sp>
        <p:nvSpPr>
          <p:cNvPr id="3" name="">
            <a:extLst xmlns:a="http://schemas.openxmlformats.org/drawingml/2006/main">
              <a:ext uri="{FF2B5EF4-FFF2-40B4-BE49-F238E27FC236}">
                <a16:creationId xmlns:a16="http://schemas.microsoft.com/office/drawing/2014/main" id="{A39984C6-BE57-4F9B-B702-AE8AB6F0B8EF}"/>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13</a:t>
            </a:r>
          </a:p>
        </p:txBody>
      </p:sp>
      <p:graphicFrame>
        <p:nvGraphicFramePr>
          <p:cNvPr id="9" name="Chart"/>
          <p:cNvGraphicFramePr/>
          <p:nvPr/>
        </p:nvGraphicFramePr>
        <p:xfrm>
          <a:off xmlns:a="http://schemas.openxmlformats.org/drawingml/2006/main" x="666750" y="2190750"/>
          <a:ext xmlns:a="http://schemas.openxmlformats.org/drawingml/2006/main" cx="10572750" cy="3190875"/>
        </p:xfrm>
        <a:graphic xmlns:a="http://schemas.openxmlformats.org/drawingml/2006/main">
          <a:graphicData uri="http://schemas.openxmlformats.org/drawingml/2006/chart">
            <c:chart xmlns:r="http://schemas.openxmlformats.org/officeDocument/2006/relationships" xmlns:c="http://schemas.openxmlformats.org/drawingml/2006/chart" r:id="Rdfcc342d33444aeb"/>
          </a:graphicData>
        </a:graphic>
      </p:graphicFrame>
      <p:sp>
        <p:nvSpPr>
          <p:cNvPr id="5" name="">
            <a:extLst xmlns:a="http://schemas.openxmlformats.org/drawingml/2006/main">
              <a:ext uri="{FF2B5EF4-FFF2-40B4-BE49-F238E27FC236}">
                <a16:creationId xmlns:a16="http://schemas.microsoft.com/office/drawing/2014/main" id="{F4180F52-0728-44C4-AD4D-128FE7773277}"/>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Pairwise ranking helped some comparisons, but neither XGBoost variant entered the final system.</a:t>
            </a:r>
          </a:p>
        </p:txBody>
      </p:sp>
    </p:spTree>
    <p:extLst>
      <p:ext uri="{BB962C8B-B14F-4D97-AF65-F5344CB8AC3E}">
        <p14:creationId xmlns:p14="http://schemas.microsoft.com/office/powerpoint/2010/main" val="7448940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AD95EB-46D3-4B8C-8AE9-043234D58ED0}"/>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What improved our solution?</a:t>
            </a:r>
          </a:p>
        </p:txBody>
      </p:sp>
      <p:sp>
        <p:nvSpPr>
          <p:cNvPr id="2" name="">
            <a:extLst xmlns:a="http://schemas.openxmlformats.org/drawingml/2006/main">
              <a:ext uri="{FF2B5EF4-FFF2-40B4-BE49-F238E27FC236}">
                <a16:creationId xmlns:a16="http://schemas.microsoft.com/office/drawing/2014/main" id="{BD85745F-407B-4E2F-B7A6-5341A42210CA}"/>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Accepted target-enhanced blends compared with the previous selected system.</a:t>
            </a:r>
          </a:p>
        </p:txBody>
      </p:sp>
      <p:sp>
        <p:nvSpPr>
          <p:cNvPr id="3" name="">
            <a:extLst xmlns:a="http://schemas.openxmlformats.org/drawingml/2006/main">
              <a:ext uri="{FF2B5EF4-FFF2-40B4-BE49-F238E27FC236}">
                <a16:creationId xmlns:a16="http://schemas.microsoft.com/office/drawing/2014/main" id="{2E4AB2C3-6CA4-496F-892A-FBA194C4F902}"/>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14</a:t>
            </a:r>
          </a:p>
        </p:txBody>
      </p:sp>
      <p:graphicFrame>
        <p:nvGraphicFramePr>
          <p:cNvPr id="10" name=""/>
          <p:cNvGraphicFramePr/>
          <p:nvPr/>
        </p:nvGraphicFramePr>
        <p:xfrm>
          <a:off xmlns:a="http://schemas.openxmlformats.org/drawingml/2006/main" x="628650" y="2143125"/>
          <a:ext xmlns:a="http://schemas.openxmlformats.org/drawingml/2006/main" cx="10934700" cy="2667000"/>
        </p:xfrm>
        <a:graphic xmlns:a="http://schemas.openxmlformats.org/drawingml/2006/main">
          <a:graphicData uri="http://schemas.openxmlformats.org/drawingml/2006/table">
            <a:tbl>
              <a:tblPr/>
              <a:tblGrid>
                <a:gridCol w="2667000"/>
                <a:gridCol w="1809750"/>
                <a:gridCol w="1809750"/>
                <a:gridCol w="2095500"/>
                <a:gridCol w="2552700"/>
              </a:tblGrid>
              <a:tr h="666750">
                <a:tc>
                  <a:txBody>
                    <a:bodyPr>
                      <a:noAutofit/>
                    </a:bodyPr>
                    <a:lstStyle/>
                    <a:p>
                      <a:r>
                        <a:rPr sz="1950" b="1">
                          <a:solidFill>
                            <a:srgbClr val="FFFFFF"/>
                          </a:solidFill>
                          <a:latin typeface="Helvetica Neue"/>
                          <a:ea typeface="Helvetica Neue"/>
                          <a:cs typeface="Helvetica Neue"/>
                        </a:rPr>
                        <a:t>Collection</a:t>
                      </a:r>
                    </a:p>
                  </a:txBody>
                  <a:tcPr marL="91440" marR="91440" marT="45720" marB="45720">
                    <a:solidFill>
                      <a:srgbClr val="102B3F"/>
                    </a:solidFill>
                  </a:tcPr>
                </a:tc>
                <a:tc>
                  <a:txBody>
                    <a:bodyPr>
                      <a:noAutofit/>
                    </a:bodyPr>
                    <a:lstStyle/>
                    <a:p>
                      <a:r>
                        <a:rPr sz="1950" b="1">
                          <a:solidFill>
                            <a:srgbClr val="FFFFFF"/>
                          </a:solidFill>
                          <a:latin typeface="Helvetica Neue"/>
                          <a:ea typeface="Helvetica Neue"/>
                          <a:cs typeface="Helvetica Neue"/>
                        </a:rPr>
                        <a:t>Audit before</a:t>
                      </a:r>
                    </a:p>
                  </a:txBody>
                  <a:tcPr marL="91440" marR="91440" marT="45720" marB="45720">
                    <a:solidFill>
                      <a:srgbClr val="102B3F"/>
                    </a:solidFill>
                  </a:tcPr>
                </a:tc>
                <a:tc>
                  <a:txBody>
                    <a:bodyPr>
                      <a:noAutofit/>
                    </a:bodyPr>
                    <a:lstStyle/>
                    <a:p>
                      <a:r>
                        <a:rPr sz="1950" b="1">
                          <a:solidFill>
                            <a:srgbClr val="FFFFFF"/>
                          </a:solidFill>
                          <a:latin typeface="Helvetica Neue"/>
                          <a:ea typeface="Helvetica Neue"/>
                          <a:cs typeface="Helvetica Neue"/>
                        </a:rPr>
                        <a:t>Audit after</a:t>
                      </a:r>
                    </a:p>
                  </a:txBody>
                  <a:tcPr marL="91440" marR="91440" marT="45720" marB="45720">
                    <a:solidFill>
                      <a:srgbClr val="102B3F"/>
                    </a:solidFill>
                  </a:tcPr>
                </a:tc>
                <a:tc>
                  <a:txBody>
                    <a:bodyPr>
                      <a:noAutofit/>
                    </a:bodyPr>
                    <a:lstStyle/>
                    <a:p>
                      <a:r>
                        <a:rPr sz="1950" b="1">
                          <a:solidFill>
                            <a:srgbClr val="FFFFFF"/>
                          </a:solidFill>
                          <a:latin typeface="Helvetica Neue"/>
                          <a:ea typeface="Helvetica Neue"/>
                          <a:cs typeface="Helvetica Neue"/>
                        </a:rPr>
                        <a:t>Absolute gain</a:t>
                      </a:r>
                    </a:p>
                  </a:txBody>
                  <a:tcPr marL="91440" marR="91440" marT="45720" marB="45720">
                    <a:solidFill>
                      <a:srgbClr val="102B3F"/>
                    </a:solidFill>
                  </a:tcPr>
                </a:tc>
                <a:tc>
                  <a:txBody>
                    <a:bodyPr>
                      <a:noAutofit/>
                    </a:bodyPr>
                    <a:lstStyle/>
                    <a:p>
                      <a:r>
                        <a:rPr sz="1950" b="1">
                          <a:solidFill>
                            <a:srgbClr val="FFFFFF"/>
                          </a:solidFill>
                          <a:latin typeface="Helvetica Neue"/>
                          <a:ea typeface="Helvetica Neue"/>
                          <a:cs typeface="Helvetica Neue"/>
                        </a:rPr>
                        <a:t>Relative gain</a:t>
                      </a:r>
                    </a:p>
                  </a:txBody>
                  <a:tcPr marL="91440" marR="91440" marT="45720" marB="45720">
                    <a:solidFill>
                      <a:srgbClr val="102B3F"/>
                    </a:solidFill>
                  </a:tcPr>
                </a:tc>
              </a:tr>
              <a:tr h="666750">
                <a:tc>
                  <a:txBody>
                    <a:bodyPr>
                      <a:noAutofit/>
                    </a:bodyPr>
                    <a:lstStyle/>
                    <a:p>
                      <a:r>
                        <a:rPr sz="1950" b="0">
                          <a:solidFill>
                            <a:srgbClr val="102B3F"/>
                          </a:solidFill>
                          <a:latin typeface="Helvetica Neue"/>
                          <a:ea typeface="Helvetica Neue"/>
                          <a:cs typeface="Helvetica Neue"/>
                        </a:rPr>
                        <a:t>NLP default</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0.4113</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0.4536</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+0.0423</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10.29%</a:t>
                      </a:r>
                    </a:p>
                  </a:txBody>
                  <a:tcPr marL="91440" marR="91440" marT="45720" marB="45720">
                    <a:solidFill>
                      <a:srgbClr val="FFFFFF"/>
                    </a:solidFill>
                  </a:tcPr>
                </a:tc>
              </a:tr>
              <a:tr h="666750">
                <a:tc>
                  <a:txBody>
                    <a:bodyPr>
                      <a:noAutofit/>
                    </a:bodyPr>
                    <a:lstStyle/>
                    <a:p>
                      <a:r>
                        <a:rPr sz="1950" b="0">
                          <a:solidFill>
                            <a:srgbClr val="102B3F"/>
                          </a:solidFill>
                          <a:latin typeface="Helvetica Neue"/>
                          <a:ea typeface="Helvetica Neue"/>
                          <a:cs typeface="Helvetica Neue"/>
                        </a:rPr>
                        <a:t>NLP random</a:t>
                      </a:r>
                    </a:p>
                  </a:txBody>
                  <a:tcPr marL="91440" marR="91440" marT="45720" marB="45720">
                    <a:solidFill>
                      <a:srgbClr val="F3F7F9"/>
                    </a:solidFill>
                  </a:tcPr>
                </a:tc>
                <a:tc>
                  <a:txBody>
                    <a:bodyPr>
                      <a:noAutofit/>
                    </a:bodyPr>
                    <a:lstStyle/>
                    <a:p>
                      <a:r>
                        <a:rPr sz="1950" b="0">
                          <a:solidFill>
                            <a:srgbClr val="102B3F"/>
                          </a:solidFill>
                          <a:latin typeface="Helvetica Neue"/>
                          <a:ea typeface="Helvetica Neue"/>
                          <a:cs typeface="Helvetica Neue"/>
                        </a:rPr>
                        <a:t>0.6725</a:t>
                      </a:r>
                    </a:p>
                  </a:txBody>
                  <a:tcPr marL="91440" marR="91440" marT="45720" marB="45720">
                    <a:solidFill>
                      <a:srgbClr val="F3F7F9"/>
                    </a:solidFill>
                  </a:tcPr>
                </a:tc>
                <a:tc>
                  <a:txBody>
                    <a:bodyPr>
                      <a:noAutofit/>
                    </a:bodyPr>
                    <a:lstStyle/>
                    <a:p>
                      <a:r>
                        <a:rPr sz="1950" b="0">
                          <a:solidFill>
                            <a:srgbClr val="102B3F"/>
                          </a:solidFill>
                          <a:latin typeface="Helvetica Neue"/>
                          <a:ea typeface="Helvetica Neue"/>
                          <a:cs typeface="Helvetica Neue"/>
                        </a:rPr>
                        <a:t>0.6843</a:t>
                      </a:r>
                    </a:p>
                  </a:txBody>
                  <a:tcPr marL="91440" marR="91440" marT="45720" marB="45720">
                    <a:solidFill>
                      <a:srgbClr val="F3F7F9"/>
                    </a:solidFill>
                  </a:tcPr>
                </a:tc>
                <a:tc>
                  <a:txBody>
                    <a:bodyPr>
                      <a:noAutofit/>
                    </a:bodyPr>
                    <a:lstStyle/>
                    <a:p>
                      <a:r>
                        <a:rPr sz="1950" b="0">
                          <a:solidFill>
                            <a:srgbClr val="102B3F"/>
                          </a:solidFill>
                          <a:latin typeface="Helvetica Neue"/>
                          <a:ea typeface="Helvetica Neue"/>
                          <a:cs typeface="Helvetica Neue"/>
                        </a:rPr>
                        <a:t>+0.0118</a:t>
                      </a:r>
                    </a:p>
                  </a:txBody>
                  <a:tcPr marL="91440" marR="91440" marT="45720" marB="45720">
                    <a:solidFill>
                      <a:srgbClr val="F3F7F9"/>
                    </a:solidFill>
                  </a:tcPr>
                </a:tc>
                <a:tc>
                  <a:txBody>
                    <a:bodyPr>
                      <a:noAutofit/>
                    </a:bodyPr>
                    <a:lstStyle/>
                    <a:p>
                      <a:r>
                        <a:rPr sz="1950" b="0">
                          <a:solidFill>
                            <a:srgbClr val="102B3F"/>
                          </a:solidFill>
                          <a:latin typeface="Helvetica Neue"/>
                          <a:ea typeface="Helvetica Neue"/>
                          <a:cs typeface="Helvetica Neue"/>
                        </a:rPr>
                        <a:t>1.75%</a:t>
                      </a:r>
                    </a:p>
                  </a:txBody>
                  <a:tcPr marL="91440" marR="91440" marT="45720" marB="45720">
                    <a:solidFill>
                      <a:srgbClr val="F3F7F9"/>
                    </a:solidFill>
                  </a:tcPr>
                </a:tc>
              </a:tr>
              <a:tr h="666750">
                <a:tc>
                  <a:txBody>
                    <a:bodyPr>
                      <a:noAutofit/>
                    </a:bodyPr>
                    <a:lstStyle/>
                    <a:p>
                      <a:r>
                        <a:rPr sz="1950" b="0">
                          <a:solidFill>
                            <a:srgbClr val="102B3F"/>
                          </a:solidFill>
                          <a:latin typeface="Helvetica Neue"/>
                          <a:ea typeface="Helvetica Neue"/>
                          <a:cs typeface="Helvetica Neue"/>
                        </a:rPr>
                        <a:t>XLA default</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0.0352</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0.0943</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+0.0592</a:t>
                      </a:r>
                    </a:p>
                  </a:txBody>
                  <a:tcPr marL="91440" marR="91440" marT="45720" marB="45720">
                    <a:solidFill>
                      <a:srgbClr val="FFFFFF"/>
                    </a:solidFill>
                  </a:tcPr>
                </a:tc>
                <a:tc>
                  <a:txBody>
                    <a:bodyPr>
                      <a:noAutofit/>
                    </a:bodyPr>
                    <a:lstStyle/>
                    <a:p>
                      <a:r>
                        <a:rPr sz="1950" b="0">
                          <a:solidFill>
                            <a:srgbClr val="102B3F"/>
                          </a:solidFill>
                          <a:latin typeface="Helvetica Neue"/>
                          <a:ea typeface="Helvetica Neue"/>
                          <a:cs typeface="Helvetica Neue"/>
                        </a:rPr>
                        <a:t>Near-zero base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B25E961-6FD9-49BC-9409-6BC2C4859058}"/>
              </a:ext>
            </a:extLst>
          </p:cNvPr>
          <p:cNvSpPr>
            <a:spLocks xmlns:a="http://schemas.openxmlformats.org/drawingml/2006/main" noGrp="1"/>
          </p:cNvSpPr>
          <p:nvPr/>
        </p:nvSpPr>
        <p:spPr>
          <a:xfrm xmlns:a="http://schemas.openxmlformats.org/drawingml/2006/main">
            <a:off x="66675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8477"/>
                </a:solidFill>
                <a:latin typeface="Helvetica Neue"/>
                <a:ea typeface="Helvetica Neue"/>
                <a:cs typeface="Helvetica Neue"/>
              </a:defRPr>
            </a:pPr>
            <a:r>
              <a:rPr sz="2175" b="1">
                <a:solidFill>
                  <a:srgbClr val="168477"/>
                </a:solidFill>
                <a:latin typeface="Helvetica Neue"/>
                <a:ea typeface="Helvetica Neue"/>
                <a:cs typeface="Helvetica Neue"/>
              </a:rPr>
              <a:t>NLP random: a weaker standalone model still improved the blend.</a:t>
            </a:r>
          </a:p>
        </p:txBody>
      </p:sp>
      <p:sp>
        <p:nvSpPr>
          <p:cNvPr id="6" name="">
            <a:extLst xmlns:a="http://schemas.openxmlformats.org/drawingml/2006/main">
              <a:ext uri="{FF2B5EF4-FFF2-40B4-BE49-F238E27FC236}">
                <a16:creationId xmlns:a16="http://schemas.microsoft.com/office/drawing/2014/main" id="{F27186CE-9E76-482F-A1D2-8058FBD1EA3C}"/>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These are blend gains on reused audit data, not isolated causal target effects.</a:t>
            </a:r>
          </a:p>
        </p:txBody>
      </p:sp>
    </p:spTree>
    <p:extLst>
      <p:ext uri="{BB962C8B-B14F-4D97-AF65-F5344CB8AC3E}">
        <p14:creationId xmlns:p14="http://schemas.microsoft.com/office/powerpoint/2010/main" val="8757314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2CBE7D-6374-42E3-B863-D2FA69B5E065}"/>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What did not help consistently?</a:t>
            </a:r>
          </a:p>
        </p:txBody>
      </p:sp>
      <p:sp>
        <p:nvSpPr>
          <p:cNvPr id="2" name="">
            <a:extLst xmlns:a="http://schemas.openxmlformats.org/drawingml/2006/main">
              <a:ext uri="{FF2B5EF4-FFF2-40B4-BE49-F238E27FC236}">
                <a16:creationId xmlns:a16="http://schemas.microsoft.com/office/drawing/2014/main" id="{E8815E19-A96B-4ADA-A14B-D5E1B1A1E15B}"/>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Different outcomes lead to different conclusions.</a:t>
            </a:r>
          </a:p>
        </p:txBody>
      </p:sp>
      <p:sp>
        <p:nvSpPr>
          <p:cNvPr id="3" name="">
            <a:extLst xmlns:a="http://schemas.openxmlformats.org/drawingml/2006/main">
              <a:ext uri="{FF2B5EF4-FFF2-40B4-BE49-F238E27FC236}">
                <a16:creationId xmlns:a16="http://schemas.microsoft.com/office/drawing/2014/main" id="{D322FB0F-D242-49C0-865B-D1D5CDC9EC1A}"/>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15</a:t>
            </a:r>
          </a:p>
        </p:txBody>
      </p:sp>
      <p:graphicFrame>
        <p:nvGraphicFramePr>
          <p:cNvPr id="9" name=""/>
          <p:cNvGraphicFramePr/>
          <p:nvPr/>
        </p:nvGraphicFramePr>
        <p:xfrm>
          <a:off xmlns:a="http://schemas.openxmlformats.org/drawingml/2006/main" x="628650" y="2152650"/>
          <a:ext xmlns:a="http://schemas.openxmlformats.org/drawingml/2006/main" cx="10934700" cy="3286125"/>
        </p:xfrm>
        <a:graphic xmlns:a="http://schemas.openxmlformats.org/drawingml/2006/main">
          <a:graphicData uri="http://schemas.openxmlformats.org/drawingml/2006/table">
            <a:tbl>
              <a:tblPr/>
              <a:tblGrid>
                <a:gridCol w="2667000"/>
                <a:gridCol w="4381500"/>
                <a:gridCol w="3886200"/>
              </a:tblGrid>
              <a:tr h="657225">
                <a:tc>
                  <a:txBody>
                    <a:bodyPr>
                      <a:noAutofit/>
                    </a:bodyPr>
                    <a:lstStyle/>
                    <a:p>
                      <a:r>
                        <a:rPr sz="1875" b="1">
                          <a:solidFill>
                            <a:srgbClr val="FFFFFF"/>
                          </a:solidFill>
                          <a:latin typeface="Helvetica Neue"/>
                          <a:ea typeface="Helvetica Neue"/>
                          <a:cs typeface="Helvetica Neue"/>
                        </a:rPr>
                        <a:t>Outcome</a:t>
                      </a:r>
                    </a:p>
                  </a:txBody>
                  <a:tcPr marL="91440" marR="91440" marT="45720" marB="45720">
                    <a:solidFill>
                      <a:srgbClr val="102B3F"/>
                    </a:solidFill>
                  </a:tcPr>
                </a:tc>
                <a:tc>
                  <a:txBody>
                    <a:bodyPr>
                      <a:noAutofit/>
                    </a:bodyPr>
                    <a:lstStyle/>
                    <a:p>
                      <a:r>
                        <a:rPr sz="1875" b="1">
                          <a:solidFill>
                            <a:srgbClr val="FFFFFF"/>
                          </a:solidFill>
                          <a:latin typeface="Helvetica Neue"/>
                          <a:ea typeface="Helvetica Neue"/>
                          <a:cs typeface="Helvetica Neue"/>
                        </a:rPr>
                        <a:t>Evidence</a:t>
                      </a:r>
                    </a:p>
                  </a:txBody>
                  <a:tcPr marL="91440" marR="91440" marT="45720" marB="45720">
                    <a:solidFill>
                      <a:srgbClr val="102B3F"/>
                    </a:solidFill>
                  </a:tcPr>
                </a:tc>
                <a:tc>
                  <a:txBody>
                    <a:bodyPr>
                      <a:noAutofit/>
                    </a:bodyPr>
                    <a:lstStyle/>
                    <a:p>
                      <a:r>
                        <a:rPr sz="1875" b="1">
                          <a:solidFill>
                            <a:srgbClr val="FFFFFF"/>
                          </a:solidFill>
                          <a:latin typeface="Helvetica Neue"/>
                          <a:ea typeface="Helvetica Neue"/>
                          <a:cs typeface="Helvetica Neue"/>
                        </a:rPr>
                        <a:t>Decision</a:t>
                      </a:r>
                    </a:p>
                  </a:txBody>
                  <a:tcPr marL="91440" marR="91440" marT="45720" marB="45720">
                    <a:solidFill>
                      <a:srgbClr val="102B3F"/>
                    </a:solidFill>
                  </a:tcPr>
                </a:tc>
              </a:tr>
              <a:tr h="657225">
                <a:tc>
                  <a:txBody>
                    <a:bodyPr>
                      <a:noAutofit/>
                    </a:bodyPr>
                    <a:lstStyle/>
                    <a:p>
                      <a:r>
                        <a:rPr sz="1875" b="0">
                          <a:solidFill>
                            <a:srgbClr val="102B3F"/>
                          </a:solidFill>
                          <a:latin typeface="Helvetica Neue"/>
                          <a:ea typeface="Helvetica Neue"/>
                          <a:cs typeface="Helvetica Neue"/>
                        </a:rPr>
                        <a:t>Inconclusive</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Mask/context intervals include zero</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Avoid standalone benefit claims</a:t>
                      </a:r>
                    </a:p>
                  </a:txBody>
                  <a:tcPr marL="91440" marR="91440" marT="45720" marB="45720">
                    <a:solidFill>
                      <a:srgbClr val="FFFFFF"/>
                    </a:solidFill>
                  </a:tcPr>
                </a:tc>
              </a:tr>
              <a:tr h="657225">
                <a:tc>
                  <a:txBody>
                    <a:bodyPr>
                      <a:noAutofit/>
                    </a:bodyPr>
                    <a:lstStyle/>
                    <a:p>
                      <a:r>
                        <a:rPr sz="1875" b="0">
                          <a:solidFill>
                            <a:srgbClr val="102B3F"/>
                          </a:solidFill>
                          <a:latin typeface="Helvetica Neue"/>
                          <a:ea typeface="Helvetica Neue"/>
                          <a:cs typeface="Helvetica Neue"/>
                        </a:rPr>
                        <a:t>Not consistently better</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Larger graph samples, longer GNN training</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Keep selected bounded recipes</a:t>
                      </a:r>
                    </a:p>
                  </a:txBody>
                  <a:tcPr marL="91440" marR="91440" marT="45720" marB="45720">
                    <a:solidFill>
                      <a:srgbClr val="F3F7F9"/>
                    </a:solidFill>
                  </a:tcPr>
                </a:tc>
              </a:tr>
              <a:tr h="657225">
                <a:tc>
                  <a:txBody>
                    <a:bodyPr>
                      <a:noAutofit/>
                    </a:bodyPr>
                    <a:lstStyle/>
                    <a:p>
                      <a:r>
                        <a:rPr sz="1875" b="0">
                          <a:solidFill>
                            <a:srgbClr val="102B3F"/>
                          </a:solidFill>
                          <a:latin typeface="Helvetica Neue"/>
                          <a:ea typeface="Helvetica Neue"/>
                          <a:cs typeface="Helvetica Neue"/>
                        </a:rPr>
                        <a:t>Not selected</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Tested XGBoost alternatives</a:t>
                      </a:r>
                    </a:p>
                  </a:txBody>
                  <a:tcPr marL="91440" marR="91440" marT="45720" marB="45720">
                    <a:solidFill>
                      <a:srgbClr val="FFFFFF"/>
                    </a:solidFill>
                  </a:tcPr>
                </a:tc>
                <a:tc>
                  <a:txBody>
                    <a:bodyPr>
                      <a:noAutofit/>
                    </a:bodyPr>
                    <a:lstStyle/>
                    <a:p>
                      <a:r>
                        <a:rPr sz="1875" b="0">
                          <a:solidFill>
                            <a:srgbClr val="102B3F"/>
                          </a:solidFill>
                          <a:latin typeface="Helvetica Neue"/>
                          <a:ea typeface="Helvetica Neue"/>
                          <a:cs typeface="Helvetica Neue"/>
                        </a:rPr>
                        <a:t>Retain the stronger selected blends</a:t>
                      </a:r>
                    </a:p>
                  </a:txBody>
                  <a:tcPr marL="91440" marR="91440" marT="45720" marB="45720">
                    <a:solidFill>
                      <a:srgbClr val="FFFFFF"/>
                    </a:solidFill>
                  </a:tcPr>
                </a:tc>
              </a:tr>
              <a:tr h="657225">
                <a:tc>
                  <a:txBody>
                    <a:bodyPr>
                      <a:noAutofit/>
                    </a:bodyPr>
                    <a:lstStyle/>
                    <a:p>
                      <a:r>
                        <a:rPr sz="1875" b="0">
                          <a:solidFill>
                            <a:srgbClr val="102B3F"/>
                          </a:solidFill>
                          <a:latin typeface="Helvetica Neue"/>
                          <a:ea typeface="Helvetica Neue"/>
                          <a:cs typeface="Helvetica Neue"/>
                        </a:rPr>
                        <a:t>Not evaluated</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Larger resource-excluded Tile settings</a:t>
                      </a:r>
                    </a:p>
                  </a:txBody>
                  <a:tcPr marL="91440" marR="91440" marT="45720" marB="45720">
                    <a:solidFill>
                      <a:srgbClr val="F3F7F9"/>
                    </a:solidFill>
                  </a:tcPr>
                </a:tc>
                <a:tc>
                  <a:txBody>
                    <a:bodyPr>
                      <a:noAutofit/>
                    </a:bodyPr>
                    <a:lstStyle/>
                    <a:p>
                      <a:r>
                        <a:rPr sz="1875" b="0">
                          <a:solidFill>
                            <a:srgbClr val="102B3F"/>
                          </a:solidFill>
                          <a:latin typeface="Helvetica Neue"/>
                          <a:ea typeface="Helvetica Neue"/>
                          <a:cs typeface="Helvetica Neue"/>
                        </a:rPr>
                        <a:t>Make no accuracy claim</a:t>
                      </a:r>
                    </a:p>
                  </a:txBody>
                  <a:tcPr marL="91440" marR="91440" marT="45720" marB="45720">
                    <a:solidFill>
                      <a:srgbClr val="F3F7F9"/>
                    </a:solidFill>
                  </a:tcPr>
                </a:tc>
              </a:tr>
            </a:tbl>
          </a:graphicData>
        </a:graphic>
      </p:graphicFrame>
      <p:sp>
        <p:nvSpPr>
          <p:cNvPr id="5" name="">
            <a:extLst xmlns:a="http://schemas.openxmlformats.org/drawingml/2006/main">
              <a:ext uri="{FF2B5EF4-FFF2-40B4-BE49-F238E27FC236}">
                <a16:creationId xmlns:a16="http://schemas.microsoft.com/office/drawing/2014/main" id="{25911761-BCEB-42DE-839E-92D6FEB13C12}"/>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Negative and uncertain results explain our final choices.</a:t>
            </a:r>
          </a:p>
        </p:txBody>
      </p:sp>
    </p:spTree>
    <p:extLst>
      <p:ext uri="{BB962C8B-B14F-4D97-AF65-F5344CB8AC3E}">
        <p14:creationId xmlns:p14="http://schemas.microsoft.com/office/powerpoint/2010/main" val="11277790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FD1ABB0-2195-4405-8499-4EF7EB99D220}"/>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Our final selected system</a:t>
            </a:r>
          </a:p>
        </p:txBody>
      </p:sp>
      <p:sp>
        <p:nvSpPr>
          <p:cNvPr id="2" name="">
            <a:extLst xmlns:a="http://schemas.openxmlformats.org/drawingml/2006/main">
              <a:ext uri="{FF2B5EF4-FFF2-40B4-BE49-F238E27FC236}">
                <a16:creationId xmlns:a16="http://schemas.microsoft.com/office/drawing/2014/main" id="{86946DC4-8C9C-4C46-B20C-170E443518E9}"/>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Normalize predictions to within-graph ranks, then apply fixed collection weights.</a:t>
            </a:r>
          </a:p>
        </p:txBody>
      </p:sp>
      <p:sp>
        <p:nvSpPr>
          <p:cNvPr id="3" name="">
            <a:extLst xmlns:a="http://schemas.openxmlformats.org/drawingml/2006/main">
              <a:ext uri="{FF2B5EF4-FFF2-40B4-BE49-F238E27FC236}">
                <a16:creationId xmlns:a16="http://schemas.microsoft.com/office/drawing/2014/main" id="{00044A5E-60CB-48DD-B2D1-0070DF720650}"/>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16</a:t>
            </a:r>
          </a:p>
        </p:txBody>
      </p:sp>
      <p:graphicFrame>
        <p:nvGraphicFramePr>
          <p:cNvPr id="9" name=""/>
          <p:cNvGraphicFramePr/>
          <p:nvPr/>
        </p:nvGraphicFramePr>
        <p:xfrm>
          <a:off xmlns:a="http://schemas.openxmlformats.org/drawingml/2006/main" x="628650" y="2066925"/>
          <a:ext xmlns:a="http://schemas.openxmlformats.org/drawingml/2006/main" cx="10934700" cy="3314700"/>
        </p:xfrm>
        <a:graphic xmlns:a="http://schemas.openxmlformats.org/drawingml/2006/main">
          <a:graphicData uri="http://schemas.openxmlformats.org/drawingml/2006/table">
            <a:tbl>
              <a:tblPr/>
              <a:tblGrid>
                <a:gridCol w="3143250"/>
                <a:gridCol w="2667000"/>
                <a:gridCol w="2476500"/>
                <a:gridCol w="2647950"/>
              </a:tblGrid>
              <a:tr h="552450">
                <a:tc>
                  <a:txBody>
                    <a:bodyPr>
                      <a:noAutofit/>
                    </a:bodyPr>
                    <a:lstStyle/>
                    <a:p>
                      <a:r>
                        <a:rPr sz="2025" b="1">
                          <a:solidFill>
                            <a:srgbClr val="FFFFFF"/>
                          </a:solidFill>
                          <a:latin typeface="Helvetica Neue"/>
                          <a:ea typeface="Helvetica Neue"/>
                          <a:cs typeface="Helvetica Neue"/>
                        </a:rPr>
                        <a:t>Collection</a:t>
                      </a:r>
                    </a:p>
                  </a:txBody>
                  <a:tcPr marL="91440" marR="91440" marT="45720" marB="45720">
                    <a:solidFill>
                      <a:srgbClr val="102B3F"/>
                    </a:solidFill>
                  </a:tcPr>
                </a:tc>
                <a:tc>
                  <a:txBody>
                    <a:bodyPr>
                      <a:noAutofit/>
                    </a:bodyPr>
                    <a:lstStyle/>
                    <a:p>
                      <a:r>
                        <a:rPr sz="2025" b="1">
                          <a:solidFill>
                            <a:srgbClr val="FFFFFF"/>
                          </a:solidFill>
                          <a:latin typeface="Helvetica Neue"/>
                          <a:ea typeface="Helvetica Neue"/>
                          <a:cs typeface="Helvetica Neue"/>
                        </a:rPr>
                        <a:t>Log-target HGB</a:t>
                      </a:r>
                    </a:p>
                  </a:txBody>
                  <a:tcPr marL="91440" marR="91440" marT="45720" marB="45720">
                    <a:solidFill>
                      <a:srgbClr val="102B3F"/>
                    </a:solidFill>
                  </a:tcPr>
                </a:tc>
                <a:tc>
                  <a:txBody>
                    <a:bodyPr>
                      <a:noAutofit/>
                    </a:bodyPr>
                    <a:lstStyle/>
                    <a:p>
                      <a:r>
                        <a:rPr sz="2025" b="1">
                          <a:solidFill>
                            <a:srgbClr val="FFFFFF"/>
                          </a:solidFill>
                          <a:latin typeface="Helvetica Neue"/>
                          <a:ea typeface="Helvetica Neue"/>
                          <a:cs typeface="Helvetica Neue"/>
                        </a:rPr>
                        <a:t>GraphSAGE</a:t>
                      </a:r>
                    </a:p>
                  </a:txBody>
                  <a:tcPr marL="91440" marR="91440" marT="45720" marB="45720">
                    <a:solidFill>
                      <a:srgbClr val="102B3F"/>
                    </a:solidFill>
                  </a:tcPr>
                </a:tc>
                <a:tc>
                  <a:txBody>
                    <a:bodyPr>
                      <a:noAutofit/>
                    </a:bodyPr>
                    <a:lstStyle/>
                    <a:p>
                      <a:r>
                        <a:rPr sz="2025" b="1">
                          <a:solidFill>
                            <a:srgbClr val="FFFFFF"/>
                          </a:solidFill>
                          <a:latin typeface="Helvetica Neue"/>
                          <a:ea typeface="Helvetica Neue"/>
                          <a:cs typeface="Helvetica Neue"/>
                        </a:rPr>
                        <a:t>Percentile HGB</a:t>
                      </a:r>
                    </a:p>
                  </a:txBody>
                  <a:tcPr marL="91440" marR="91440" marT="45720" marB="45720">
                    <a:solidFill>
                      <a:srgbClr val="102B3F"/>
                    </a:solidFill>
                  </a:tcPr>
                </a:tc>
              </a:tr>
              <a:tr h="552450">
                <a:tc>
                  <a:txBody>
                    <a:bodyPr>
                      <a:noAutofit/>
                    </a:bodyPr>
                    <a:lstStyle/>
                    <a:p>
                      <a:r>
                        <a:rPr sz="2025" b="0">
                          <a:solidFill>
                            <a:srgbClr val="102B3F"/>
                          </a:solidFill>
                          <a:latin typeface="Helvetica Neue"/>
                          <a:ea typeface="Helvetica Neue"/>
                          <a:cs typeface="Helvetica Neue"/>
                        </a:rPr>
                        <a:t>NLP default</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25%</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0%</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75%</a:t>
                      </a:r>
                    </a:p>
                  </a:txBody>
                  <a:tcPr marL="91440" marR="91440" marT="45720" marB="45720">
                    <a:solidFill>
                      <a:srgbClr val="FFFFFF"/>
                    </a:solidFill>
                  </a:tcPr>
                </a:tc>
              </a:tr>
              <a:tr h="552450">
                <a:tc>
                  <a:txBody>
                    <a:bodyPr>
                      <a:noAutofit/>
                    </a:bodyPr>
                    <a:lstStyle/>
                    <a:p>
                      <a:r>
                        <a:rPr sz="2025" b="0">
                          <a:solidFill>
                            <a:srgbClr val="102B3F"/>
                          </a:solidFill>
                          <a:latin typeface="Helvetica Neue"/>
                          <a:ea typeface="Helvetica Neue"/>
                          <a:cs typeface="Helvetica Neue"/>
                        </a:rPr>
                        <a:t>NLP random</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50%</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0%</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50%</a:t>
                      </a:r>
                    </a:p>
                  </a:txBody>
                  <a:tcPr marL="91440" marR="91440" marT="45720" marB="45720">
                    <a:solidFill>
                      <a:srgbClr val="F3F7F9"/>
                    </a:solidFill>
                  </a:tcPr>
                </a:tc>
              </a:tr>
              <a:tr h="552450">
                <a:tc>
                  <a:txBody>
                    <a:bodyPr>
                      <a:noAutofit/>
                    </a:bodyPr>
                    <a:lstStyle/>
                    <a:p>
                      <a:r>
                        <a:rPr sz="2025" b="0">
                          <a:solidFill>
                            <a:srgbClr val="102B3F"/>
                          </a:solidFill>
                          <a:latin typeface="Helvetica Neue"/>
                          <a:ea typeface="Helvetica Neue"/>
                          <a:cs typeface="Helvetica Neue"/>
                        </a:rPr>
                        <a:t>XLA default</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37.5%</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37.5%</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25%</a:t>
                      </a:r>
                    </a:p>
                  </a:txBody>
                  <a:tcPr marL="91440" marR="91440" marT="45720" marB="45720">
                    <a:solidFill>
                      <a:srgbClr val="FFFFFF"/>
                    </a:solidFill>
                  </a:tcPr>
                </a:tc>
              </a:tr>
              <a:tr h="552450">
                <a:tc>
                  <a:txBody>
                    <a:bodyPr>
                      <a:noAutofit/>
                    </a:bodyPr>
                    <a:lstStyle/>
                    <a:p>
                      <a:r>
                        <a:rPr sz="2025" b="0">
                          <a:solidFill>
                            <a:srgbClr val="102B3F"/>
                          </a:solidFill>
                          <a:latin typeface="Helvetica Neue"/>
                          <a:ea typeface="Helvetica Neue"/>
                          <a:cs typeface="Helvetica Neue"/>
                        </a:rPr>
                        <a:t>XLA random</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25%</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75%</a:t>
                      </a:r>
                    </a:p>
                  </a:txBody>
                  <a:tcPr marL="91440" marR="91440" marT="45720" marB="45720">
                    <a:solidFill>
                      <a:srgbClr val="F3F7F9"/>
                    </a:solidFill>
                  </a:tcPr>
                </a:tc>
                <a:tc>
                  <a:txBody>
                    <a:bodyPr>
                      <a:noAutofit/>
                    </a:bodyPr>
                    <a:lstStyle/>
                    <a:p>
                      <a:r>
                        <a:rPr sz="2025" b="0">
                          <a:solidFill>
                            <a:srgbClr val="102B3F"/>
                          </a:solidFill>
                          <a:latin typeface="Helvetica Neue"/>
                          <a:ea typeface="Helvetica Neue"/>
                          <a:cs typeface="Helvetica Neue"/>
                        </a:rPr>
                        <a:t>0%</a:t>
                      </a:r>
                    </a:p>
                  </a:txBody>
                  <a:tcPr marL="91440" marR="91440" marT="45720" marB="45720">
                    <a:solidFill>
                      <a:srgbClr val="F3F7F9"/>
                    </a:solidFill>
                  </a:tcPr>
                </a:tc>
              </a:tr>
              <a:tr h="552450">
                <a:tc>
                  <a:txBody>
                    <a:bodyPr>
                      <a:noAutofit/>
                    </a:bodyPr>
                    <a:lstStyle/>
                    <a:p>
                      <a:r>
                        <a:rPr sz="2025" b="0">
                          <a:solidFill>
                            <a:srgbClr val="102B3F"/>
                          </a:solidFill>
                          <a:latin typeface="Helvetica Neue"/>
                          <a:ea typeface="Helvetica Neue"/>
                          <a:cs typeface="Helvetica Neue"/>
                        </a:rPr>
                        <a:t>Tile XLA</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100%</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0%</a:t>
                      </a:r>
                    </a:p>
                  </a:txBody>
                  <a:tcPr marL="91440" marR="91440" marT="45720" marB="45720">
                    <a:solidFill>
                      <a:srgbClr val="FFFFFF"/>
                    </a:solidFill>
                  </a:tcPr>
                </a:tc>
                <a:tc>
                  <a:txBody>
                    <a:bodyPr>
                      <a:noAutofit/>
                    </a:bodyPr>
                    <a:lstStyle/>
                    <a:p>
                      <a:r>
                        <a:rPr sz="2025" b="0">
                          <a:solidFill>
                            <a:srgbClr val="102B3F"/>
                          </a:solidFill>
                          <a:latin typeface="Helvetica Neue"/>
                          <a:ea typeface="Helvetica Neue"/>
                          <a:cs typeface="Helvetica Neue"/>
                        </a:rPr>
                        <a:t>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F6EC0EE-38ED-4D9A-B8FE-0245D4B15E2E}"/>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The final system uses both graph learning and boosted trees.</a:t>
            </a:r>
          </a:p>
        </p:txBody>
      </p:sp>
    </p:spTree>
    <p:extLst>
      <p:ext uri="{BB962C8B-B14F-4D97-AF65-F5344CB8AC3E}">
        <p14:creationId xmlns:p14="http://schemas.microsoft.com/office/powerpoint/2010/main" val="19129816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C0E8F0D-964D-420A-97C4-13C77A4A6843}"/>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Final performance</a:t>
            </a:r>
          </a:p>
        </p:txBody>
      </p:sp>
      <p:sp>
        <p:nvSpPr>
          <p:cNvPr id="2" name="">
            <a:extLst xmlns:a="http://schemas.openxmlformats.org/drawingml/2006/main">
              <a:ext uri="{FF2B5EF4-FFF2-40B4-BE49-F238E27FC236}">
                <a16:creationId xmlns:a16="http://schemas.microsoft.com/office/drawing/2014/main" id="{D8DBD632-0FA5-40FE-BFBD-BA7110645EEA}"/>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Whole-system comparison against the basic HGB baseline on reused audit data.</a:t>
            </a:r>
          </a:p>
        </p:txBody>
      </p:sp>
      <p:sp>
        <p:nvSpPr>
          <p:cNvPr id="3" name="">
            <a:extLst xmlns:a="http://schemas.openxmlformats.org/drawingml/2006/main">
              <a:ext uri="{FF2B5EF4-FFF2-40B4-BE49-F238E27FC236}">
                <a16:creationId xmlns:a16="http://schemas.microsoft.com/office/drawing/2014/main" id="{527A7585-D609-4A8F-B279-DD5508CFFC1D}"/>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17</a:t>
            </a:r>
          </a:p>
        </p:txBody>
      </p:sp>
      <p:graphicFrame>
        <p:nvGraphicFramePr>
          <p:cNvPr id="12" name="Chart"/>
          <p:cNvGraphicFramePr/>
          <p:nvPr/>
        </p:nvGraphicFramePr>
        <p:xfrm>
          <a:off xmlns:a="http://schemas.openxmlformats.org/drawingml/2006/main" x="552450" y="2143125"/>
          <a:ext xmlns:a="http://schemas.openxmlformats.org/drawingml/2006/main" cx="7953375" cy="3333750"/>
        </p:xfrm>
        <a:graphic xmlns:a="http://schemas.openxmlformats.org/drawingml/2006/main">
          <a:graphicData uri="http://schemas.openxmlformats.org/drawingml/2006/chart">
            <c:chart xmlns:r="http://schemas.openxmlformats.org/officeDocument/2006/relationships" xmlns:c="http://schemas.openxmlformats.org/drawingml/2006/chart" r:id="Rb367522cc83641e6"/>
          </a:graphicData>
        </a:graphic>
      </p:graphicFrame>
      <p:sp>
        <p:nvSpPr>
          <p:cNvPr id="5" name="">
            <a:extLst xmlns:a="http://schemas.openxmlformats.org/drawingml/2006/main">
              <a:ext uri="{FF2B5EF4-FFF2-40B4-BE49-F238E27FC236}">
                <a16:creationId xmlns:a16="http://schemas.microsoft.com/office/drawing/2014/main" id="{93E645E1-1D4B-4C1D-96EE-149A6ECAC8D8}"/>
              </a:ext>
            </a:extLst>
          </p:cNvPr>
          <p:cNvSpPr>
            <a:spLocks xmlns:a="http://schemas.openxmlformats.org/drawingml/2006/main" noGrp="1"/>
          </p:cNvSpPr>
          <p:nvPr/>
        </p:nvSpPr>
        <p:spPr>
          <a:xfrm xmlns:a="http://schemas.openxmlformats.org/drawingml/2006/main">
            <a:off x="8982075" y="2333625"/>
            <a:ext cx="257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68477"/>
                </a:solidFill>
                <a:latin typeface="Helvetica Neue"/>
                <a:ea typeface="Helvetica Neue"/>
                <a:cs typeface="Helvetica Neue"/>
              </a:defRPr>
            </a:pPr>
            <a:r>
              <a:rPr sz="5400" b="1">
                <a:solidFill>
                  <a:srgbClr val="168477"/>
                </a:solidFill>
                <a:latin typeface="Helvetica Neue"/>
                <a:ea typeface="Helvetica Neue"/>
                <a:cs typeface="Helvetica Neue"/>
              </a:rPr>
              <a:t>0.567</a:t>
            </a:r>
          </a:p>
        </p:txBody>
      </p:sp>
      <p:sp>
        <p:nvSpPr>
          <p:cNvPr id="6" name="">
            <a:extLst xmlns:a="http://schemas.openxmlformats.org/drawingml/2006/main">
              <a:ext uri="{FF2B5EF4-FFF2-40B4-BE49-F238E27FC236}">
                <a16:creationId xmlns:a16="http://schemas.microsoft.com/office/drawing/2014/main" id="{B043B578-F59B-4999-9B1A-FEBC4DC3BE8E}"/>
              </a:ext>
            </a:extLst>
          </p:cNvPr>
          <p:cNvSpPr>
            <a:spLocks xmlns:a="http://schemas.openxmlformats.org/drawingml/2006/main" noGrp="1"/>
          </p:cNvSpPr>
          <p:nvPr/>
        </p:nvSpPr>
        <p:spPr>
          <a:xfrm xmlns:a="http://schemas.openxmlformats.org/drawingml/2006/main">
            <a:off x="9020175" y="34290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B3F"/>
                </a:solidFill>
                <a:latin typeface="Helvetica Neue"/>
                <a:ea typeface="Helvetica Neue"/>
                <a:cs typeface="Helvetica Neue"/>
              </a:defRPr>
            </a:pPr>
            <a:r>
              <a:rPr sz="2025" b="0">
                <a:solidFill>
                  <a:srgbClr val="102B3F"/>
                </a:solidFill>
                <a:latin typeface="Helvetica Neue"/>
                <a:ea typeface="Helvetica Neue"/>
                <a:cs typeface="Helvetica Neue"/>
              </a:rPr>
              <a:t>Reported public</a:t>
            </a:r>
          </a:p>
          <a:p xmlns:a="http://schemas.openxmlformats.org/drawingml/2006/main">
            <a:pPr>
              <a:defRPr sz="2025" b="0">
                <a:solidFill>
                  <a:srgbClr val="102B3F"/>
                </a:solidFill>
                <a:latin typeface="Helvetica Neue"/>
                <a:ea typeface="Helvetica Neue"/>
                <a:cs typeface="Helvetica Neue"/>
              </a:defRPr>
            </a:pPr>
            <a:r>
              <a:rPr sz="2025" b="0">
                <a:solidFill>
                  <a:srgbClr val="102B3F"/>
                </a:solidFill>
                <a:latin typeface="Helvetica Neue"/>
                <a:ea typeface="Helvetica Neue"/>
                <a:cs typeface="Helvetica Neue"/>
              </a:rPr>
              <a:t>Kaggle score</a:t>
            </a:r>
          </a:p>
        </p:txBody>
      </p:sp>
      <p:sp>
        <p:nvSpPr>
          <p:cNvPr id="7" name="">
            <a:extLst xmlns:a="http://schemas.openxmlformats.org/drawingml/2006/main">
              <a:ext uri="{FF2B5EF4-FFF2-40B4-BE49-F238E27FC236}">
                <a16:creationId xmlns:a16="http://schemas.microsoft.com/office/drawing/2014/main" id="{96EF7BE2-413A-47AD-9BF0-6CFB32940CB4}"/>
              </a:ext>
            </a:extLst>
          </p:cNvPr>
          <p:cNvSpPr>
            <a:spLocks xmlns:a="http://schemas.openxmlformats.org/drawingml/2006/main" noGrp="1"/>
          </p:cNvSpPr>
          <p:nvPr/>
        </p:nvSpPr>
        <p:spPr>
          <a:xfrm xmlns:a="http://schemas.openxmlformats.org/drawingml/2006/main">
            <a:off x="9020175" y="44767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Previous: 0.558</a:t>
            </a:r>
          </a:p>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Gain: +0.009</a:t>
            </a:r>
          </a:p>
        </p:txBody>
      </p:sp>
      <p:sp>
        <p:nvSpPr>
          <p:cNvPr id="8" name="">
            <a:extLst xmlns:a="http://schemas.openxmlformats.org/drawingml/2006/main">
              <a:ext uri="{FF2B5EF4-FFF2-40B4-BE49-F238E27FC236}">
                <a16:creationId xmlns:a16="http://schemas.microsoft.com/office/drawing/2014/main" id="{DDCF56F5-2F95-4E97-AAC2-D3867886F4C1}"/>
              </a:ext>
            </a:extLst>
          </p:cNvPr>
          <p:cNvSpPr>
            <a:spLocks xmlns:a="http://schemas.openxmlformats.org/drawingml/2006/main" noGrp="1"/>
          </p:cNvSpPr>
          <p:nvPr/>
        </p:nvSpPr>
        <p:spPr>
          <a:xfrm xmlns:a="http://schemas.openxmlformats.org/drawingml/2006/main">
            <a:off x="62865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477"/>
                </a:solidFill>
                <a:latin typeface="Helvetica Neue"/>
                <a:ea typeface="Helvetica Neue"/>
                <a:cs typeface="Helvetica Neue"/>
              </a:defRPr>
            </a:pPr>
            <a:r>
              <a:rPr sz="1950" b="1">
                <a:solidFill>
                  <a:srgbClr val="168477"/>
                </a:solidFill>
                <a:latin typeface="Helvetica Neue"/>
                <a:ea typeface="Helvetica Neue"/>
                <a:cs typeface="Helvetica Neue"/>
              </a:rPr>
              <a:t>Tile audit score: 0.9505 baseline, 0.9793 selected. Different metric from layout.</a:t>
            </a:r>
          </a:p>
        </p:txBody>
      </p:sp>
    </p:spTree>
    <p:extLst>
      <p:ext uri="{BB962C8B-B14F-4D97-AF65-F5344CB8AC3E}">
        <p14:creationId xmlns:p14="http://schemas.microsoft.com/office/powerpoint/2010/main" val="17417454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535EBA7-7CF8-429B-8C09-6DC71475220A}"/>
              </a:ext>
            </a:extLst>
          </p:cNvPr>
          <p:cNvSpPr>
            <a:spLocks xmlns:a="http://schemas.openxmlformats.org/drawingml/2006/main" noGrp="1"/>
          </p:cNvSpPr>
          <p:nvPr/>
        </p:nvSpPr>
        <p:spPr>
          <a:xfrm xmlns:a="http://schemas.openxmlformats.org/drawingml/2006/main">
            <a:off x="609600" y="3619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B3F"/>
                </a:solidFill>
                <a:latin typeface="Helvetica Neue"/>
                <a:ea typeface="Helvetica Neue"/>
                <a:cs typeface="Helvetica Neue"/>
              </a:defRPr>
            </a:pPr>
            <a:r>
              <a:rPr sz="3300" b="1">
                <a:solidFill>
                  <a:srgbClr val="102B3F"/>
                </a:solidFill>
                <a:latin typeface="Helvetica Neue"/>
                <a:ea typeface="Helvetica Neue"/>
                <a:cs typeface="Helvetica Neue"/>
              </a:rPr>
              <a:t>Contributions, conclusions and limitations</a:t>
            </a:r>
          </a:p>
        </p:txBody>
      </p:sp>
      <p:sp>
        <p:nvSpPr>
          <p:cNvPr id="2" name="">
            <a:extLst xmlns:a="http://schemas.openxmlformats.org/drawingml/2006/main">
              <a:ext uri="{FF2B5EF4-FFF2-40B4-BE49-F238E27FC236}">
                <a16:creationId xmlns:a16="http://schemas.microsoft.com/office/drawing/2014/main" id="{84BFD1CF-A2BD-463C-BA3B-9F672AC97248}"/>
              </a:ext>
            </a:extLst>
          </p:cNvPr>
          <p:cNvSpPr>
            <a:spLocks xmlns:a="http://schemas.openxmlformats.org/drawingml/2006/main" noGrp="1"/>
          </p:cNvSpPr>
          <p:nvPr/>
        </p:nvSpPr>
        <p:spPr>
          <a:xfrm xmlns:a="http://schemas.openxmlformats.org/drawingml/2006/main">
            <a:off x="628650" y="1333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16775"/>
                </a:solidFill>
                <a:latin typeface="Helvetica Neue"/>
                <a:ea typeface="Helvetica Neue"/>
                <a:cs typeface="Helvetica Neue"/>
              </a:defRPr>
            </a:pPr>
            <a:r>
              <a:rPr sz="1875" b="0">
                <a:solidFill>
                  <a:srgbClr val="516775"/>
                </a:solidFill>
                <a:latin typeface="Helvetica Neue"/>
                <a:ea typeface="Helvetica Neue"/>
                <a:cs typeface="Helvetica Neue"/>
              </a:rPr>
              <a:t>The evidence supports selective improvements rather than universal winners.</a:t>
            </a:r>
          </a:p>
        </p:txBody>
      </p:sp>
      <p:sp>
        <p:nvSpPr>
          <p:cNvPr id="3" name="">
            <a:extLst xmlns:a="http://schemas.openxmlformats.org/drawingml/2006/main">
              <a:ext uri="{FF2B5EF4-FFF2-40B4-BE49-F238E27FC236}">
                <a16:creationId xmlns:a16="http://schemas.microsoft.com/office/drawing/2014/main" id="{66DB2824-BB35-4E4C-80C0-8B8034224CF7}"/>
              </a:ext>
            </a:extLst>
          </p:cNvPr>
          <p:cNvSpPr>
            <a:spLocks xmlns:a="http://schemas.openxmlformats.org/drawingml/2006/main" noGrp="1"/>
          </p:cNvSpPr>
          <p:nvPr/>
        </p:nvSpPr>
        <p:spPr>
          <a:xfrm xmlns:a="http://schemas.openxmlformats.org/drawingml/2006/main">
            <a:off x="11049000" y="64008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6775"/>
                </a:solidFill>
                <a:latin typeface="Helvetica Neue"/>
                <a:ea typeface="Helvetica Neue"/>
                <a:cs typeface="Helvetica Neue"/>
              </a:defRPr>
            </a:pPr>
            <a:r>
              <a:rPr sz="1350" b="0">
                <a:solidFill>
                  <a:srgbClr val="516775"/>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D39C27DF-5B64-456D-A291-5AB4A3776BA5}"/>
              </a:ext>
            </a:extLst>
          </p:cNvPr>
          <p:cNvSpPr>
            <a:spLocks xmlns:a="http://schemas.openxmlformats.org/drawingml/2006/main" noGrp="1"/>
          </p:cNvSpPr>
          <p:nvPr/>
        </p:nvSpPr>
        <p:spPr>
          <a:xfrm xmlns:a="http://schemas.openxmlformats.org/drawingml/2006/main">
            <a:off x="647700" y="214312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8477"/>
                </a:solidFill>
                <a:latin typeface="Helvetica Neue"/>
                <a:ea typeface="Helvetica Neue"/>
                <a:cs typeface="Helvetica Neue"/>
              </a:defRPr>
            </a:pPr>
            <a:r>
              <a:rPr sz="2400" b="1">
                <a:solidFill>
                  <a:srgbClr val="168477"/>
                </a:solidFill>
                <a:latin typeface="Helvetica Neue"/>
                <a:ea typeface="Helvetica Neue"/>
                <a:cs typeface="Helvetica Neue"/>
              </a:rPr>
              <a:t>What we contributed</a:t>
            </a:r>
          </a:p>
        </p:txBody>
      </p:sp>
      <p:sp>
        <p:nvSpPr>
          <p:cNvPr id="5" name="">
            <a:extLst xmlns:a="http://schemas.openxmlformats.org/drawingml/2006/main">
              <a:ext uri="{FF2B5EF4-FFF2-40B4-BE49-F238E27FC236}">
                <a16:creationId xmlns:a16="http://schemas.microsoft.com/office/drawing/2014/main" id="{97524AC8-833B-48D4-9BCC-4C28142F51C0}"/>
              </a:ext>
            </a:extLst>
          </p:cNvPr>
          <p:cNvSpPr>
            <a:spLocks xmlns:a="http://schemas.openxmlformats.org/drawingml/2006/main" noGrp="1"/>
          </p:cNvSpPr>
          <p:nvPr/>
        </p:nvSpPr>
        <p:spPr>
          <a:xfrm xmlns:a="http://schemas.openxmlformats.org/drawingml/2006/main">
            <a:off x="647700" y="2857500"/>
            <a:ext cx="5143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A resource-bounded implementation</a:t>
            </a:r>
          </a:p>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and controlled comparisons of features,</a:t>
            </a:r>
          </a:p>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sampling budgets and learning targets.</a:t>
            </a:r>
          </a:p>
        </p:txBody>
      </p:sp>
      <p:sp>
        <p:nvSpPr>
          <p:cNvPr id="6" name="">
            <a:extLst xmlns:a="http://schemas.openxmlformats.org/drawingml/2006/main">
              <a:ext uri="{FF2B5EF4-FFF2-40B4-BE49-F238E27FC236}">
                <a16:creationId xmlns:a16="http://schemas.microsoft.com/office/drawing/2014/main" id="{D3C91A26-CA1E-4BDF-8768-75FE136311F6}"/>
              </a:ext>
            </a:extLst>
          </p:cNvPr>
          <p:cNvSpPr>
            <a:spLocks xmlns:a="http://schemas.openxmlformats.org/drawingml/2006/main" noGrp="1"/>
          </p:cNvSpPr>
          <p:nvPr/>
        </p:nvSpPr>
        <p:spPr>
          <a:xfrm xmlns:a="http://schemas.openxmlformats.org/drawingml/2006/main">
            <a:off x="6477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3F"/>
                </a:solidFill>
                <a:latin typeface="Helvetica Neue"/>
                <a:ea typeface="Helvetica Neue"/>
                <a:cs typeface="Helvetica Neue"/>
              </a:defRPr>
            </a:pPr>
            <a:r>
              <a:rPr sz="2100" b="0">
                <a:solidFill>
                  <a:srgbClr val="102B3F"/>
                </a:solidFill>
                <a:latin typeface="Helvetica Neue"/>
                <a:ea typeface="Helvetica Neue"/>
                <a:cs typeface="Helvetica Neue"/>
              </a:rPr>
              <a:t>Reproducible load-or-train notebook</a:t>
            </a:r>
          </a:p>
          <a:p xmlns:a="http://schemas.openxmlformats.org/drawingml/2006/main">
            <a:pPr>
              <a:defRPr sz="2100" b="0">
                <a:solidFill>
                  <a:srgbClr val="102B3F"/>
                </a:solidFill>
                <a:latin typeface="Helvetica Neue"/>
                <a:ea typeface="Helvetica Neue"/>
                <a:cs typeface="Helvetica Neue"/>
              </a:defRPr>
            </a:pPr>
            <a:r>
              <a:rPr sz="2100" b="0">
                <a:solidFill>
                  <a:srgbClr val="102B3F"/>
                </a:solidFill>
                <a:latin typeface="Helvetica Neue"/>
                <a:ea typeface="Helvetica Neue"/>
                <a:cs typeface="Helvetica Neue"/>
              </a:rPr>
              <a:t>with the final recipe fixed.</a:t>
            </a:r>
          </a:p>
        </p:txBody>
      </p:sp>
      <p:sp>
        <p:nvSpPr>
          <p:cNvPr id="7" name="">
            <a:extLst xmlns:a="http://schemas.openxmlformats.org/drawingml/2006/main">
              <a:ext uri="{FF2B5EF4-FFF2-40B4-BE49-F238E27FC236}">
                <a16:creationId xmlns:a16="http://schemas.microsoft.com/office/drawing/2014/main" id="{98BA37EE-FF96-4A56-A7D3-67E3850A8955}"/>
              </a:ext>
            </a:extLst>
          </p:cNvPr>
          <p:cNvSpPr>
            <a:spLocks xmlns:a="http://schemas.openxmlformats.org/drawingml/2006/main" noGrp="1"/>
          </p:cNvSpPr>
          <p:nvPr/>
        </p:nvSpPr>
        <p:spPr>
          <a:xfrm xmlns:a="http://schemas.openxmlformats.org/drawingml/2006/main">
            <a:off x="6572250" y="21431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02B3F"/>
                </a:solidFill>
                <a:latin typeface="Helvetica Neue"/>
                <a:ea typeface="Helvetica Neue"/>
                <a:cs typeface="Helvetica Neue"/>
              </a:defRPr>
            </a:pPr>
            <a:r>
              <a:rPr sz="2400" b="1">
                <a:solidFill>
                  <a:srgbClr val="102B3F"/>
                </a:solidFill>
                <a:latin typeface="Helvetica Neue"/>
                <a:ea typeface="Helvetica Neue"/>
                <a:cs typeface="Helvetica Neue"/>
              </a:rPr>
              <a:t>What limits the conclusion</a:t>
            </a:r>
          </a:p>
        </p:txBody>
      </p:sp>
      <p:sp>
        <p:nvSpPr>
          <p:cNvPr id="8" name="">
            <a:extLst xmlns:a="http://schemas.openxmlformats.org/drawingml/2006/main">
              <a:ext uri="{FF2B5EF4-FFF2-40B4-BE49-F238E27FC236}">
                <a16:creationId xmlns:a16="http://schemas.microsoft.com/office/drawing/2014/main" id="{06EE3466-BE55-439E-96B9-D59A3B1EF802}"/>
              </a:ext>
            </a:extLst>
          </p:cNvPr>
          <p:cNvSpPr>
            <a:spLocks xmlns:a="http://schemas.openxmlformats.org/drawingml/2006/main" noGrp="1"/>
          </p:cNvSpPr>
          <p:nvPr/>
        </p:nvSpPr>
        <p:spPr>
          <a:xfrm xmlns:a="http://schemas.openxmlformats.org/drawingml/2006/main">
            <a:off x="6572250" y="2857500"/>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Small, reused audit sets.</a:t>
            </a:r>
          </a:p>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Sampled candidate evaluation.</a:t>
            </a:r>
          </a:p>
          <a:p xmlns:a="http://schemas.openxmlformats.org/drawingml/2006/main">
            <a:pPr>
              <a:defRPr sz="2175" b="0">
                <a:solidFill>
                  <a:srgbClr val="102B3F"/>
                </a:solidFill>
                <a:latin typeface="Helvetica Neue"/>
                <a:ea typeface="Helvetica Neue"/>
                <a:cs typeface="Helvetica Neue"/>
              </a:defRPr>
            </a:pPr>
            <a:r>
              <a:rPr sz="2175" b="0">
                <a:solidFill>
                  <a:srgbClr val="102B3F"/>
                </a:solidFill>
                <a:latin typeface="Helvetica Neue"/>
                <a:ea typeface="Helvetica Neue"/>
                <a:cs typeface="Helvetica Neue"/>
              </a:rPr>
              <a:t>No proof of absence of overfitting.</a:t>
            </a:r>
          </a:p>
        </p:txBody>
      </p:sp>
      <p:sp>
        <p:nvSpPr>
          <p:cNvPr id="9" name="">
            <a:extLst xmlns:a="http://schemas.openxmlformats.org/drawingml/2006/main">
              <a:ext uri="{FF2B5EF4-FFF2-40B4-BE49-F238E27FC236}">
                <a16:creationId xmlns:a16="http://schemas.microsoft.com/office/drawing/2014/main" id="{2D90352E-A8EA-40BF-85BA-4809CEEE0EAC}"/>
              </a:ext>
            </a:extLst>
          </p:cNvPr>
          <p:cNvSpPr>
            <a:spLocks xmlns:a="http://schemas.openxmlformats.org/drawingml/2006/main" noGrp="1"/>
          </p:cNvSpPr>
          <p:nvPr/>
        </p:nvSpPr>
        <p:spPr>
          <a:xfrm xmlns:a="http://schemas.openxmlformats.org/drawingml/2006/main">
            <a:off x="6572250" y="46672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B3F"/>
                </a:solidFill>
                <a:latin typeface="Helvetica Neue"/>
                <a:ea typeface="Helvetica Neue"/>
                <a:cs typeface="Helvetica Neue"/>
              </a:defRPr>
            </a:pPr>
            <a:r>
              <a:rPr sz="2100" b="0">
                <a:solidFill>
                  <a:srgbClr val="102B3F"/>
                </a:solidFill>
                <a:latin typeface="Helvetica Neue"/>
                <a:ea typeface="Helvetica Neue"/>
                <a:cs typeface="Helvetica Neue"/>
              </a:rPr>
              <a:t>Established algorithms and prior</a:t>
            </a:r>
          </a:p>
          <a:p xmlns:a="http://schemas.openxmlformats.org/drawingml/2006/main">
            <a:pPr>
              <a:defRPr sz="2100" b="0">
                <a:solidFill>
                  <a:srgbClr val="102B3F"/>
                </a:solidFill>
                <a:latin typeface="Helvetica Neue"/>
                <a:ea typeface="Helvetica Neue"/>
                <a:cs typeface="Helvetica Neue"/>
              </a:defRPr>
            </a:pPr>
            <a:r>
              <a:rPr sz="2100" b="0">
                <a:solidFill>
                  <a:srgbClr val="102B3F"/>
                </a:solidFill>
                <a:latin typeface="Helvetica Neue"/>
                <a:ea typeface="Helvetica Neue"/>
                <a:cs typeface="Helvetica Neue"/>
              </a:rPr>
              <a:t>inspiration remain attributed.</a:t>
            </a:r>
          </a:p>
        </p:txBody>
      </p:sp>
    </p:spTree>
    <p:extLst>
      <p:ext uri="{BB962C8B-B14F-4D97-AF65-F5344CB8AC3E}">
        <p14:creationId xmlns:p14="http://schemas.microsoft.com/office/powerpoint/2010/main" val="7514755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2026-10-21T10:01:16.5730000Z</dcterms:created>
  <dcterms:modified xsi:type="dcterms:W3CDTF">2026-10-21T10:01:16.5730000Z</dcterms:modified>
</coreProperties>
</file>